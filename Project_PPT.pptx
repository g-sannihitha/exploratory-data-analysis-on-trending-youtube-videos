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79"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3858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57301" y="851773"/>
            <a:ext cx="6604278"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Exploratory Data Analysis</a:t>
            </a:r>
            <a:endParaRPr lang="en-US" sz="4400" dirty="0"/>
          </a:p>
        </p:txBody>
      </p:sp>
      <p:sp>
        <p:nvSpPr>
          <p:cNvPr id="4" name="Text 1"/>
          <p:cNvSpPr/>
          <p:nvPr/>
        </p:nvSpPr>
        <p:spPr>
          <a:xfrm>
            <a:off x="837724" y="2087285"/>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on</a:t>
            </a:r>
            <a:endParaRPr lang="en-US" sz="4400" dirty="0"/>
          </a:p>
        </p:txBody>
      </p:sp>
      <p:sp>
        <p:nvSpPr>
          <p:cNvPr id="5" name="Text 2"/>
          <p:cNvSpPr/>
          <p:nvPr/>
        </p:nvSpPr>
        <p:spPr>
          <a:xfrm>
            <a:off x="837724" y="3150275"/>
            <a:ext cx="6497836"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Trending YouTube Videos</a:t>
            </a:r>
            <a:endParaRPr lang="en-US" sz="4400" dirty="0"/>
          </a:p>
        </p:txBody>
      </p:sp>
      <p:sp>
        <p:nvSpPr>
          <p:cNvPr id="6" name="Text 3"/>
          <p:cNvSpPr/>
          <p:nvPr/>
        </p:nvSpPr>
        <p:spPr>
          <a:xfrm>
            <a:off x="837724" y="4213265"/>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By</a:t>
            </a:r>
            <a:endParaRPr lang="en-US" sz="1850" dirty="0"/>
          </a:p>
        </p:txBody>
      </p:sp>
      <p:sp>
        <p:nvSpPr>
          <p:cNvPr id="7" name="Text 4"/>
          <p:cNvSpPr/>
          <p:nvPr/>
        </p:nvSpPr>
        <p:spPr>
          <a:xfrm>
            <a:off x="837724" y="4865489"/>
            <a:ext cx="7468553" cy="383024"/>
          </a:xfrm>
          <a:prstGeom prst="rect">
            <a:avLst/>
          </a:prstGeom>
          <a:noFill/>
          <a:ln/>
        </p:spPr>
        <p:txBody>
          <a:bodyPr wrap="none" lIns="0" tIns="0" rIns="0" bIns="0" rtlCol="0" anchor="t"/>
          <a:lstStyle/>
          <a:p>
            <a:pPr marL="0" indent="0" algn="l">
              <a:lnSpc>
                <a:spcPts val="3000"/>
              </a:lnSpc>
              <a:buNone/>
            </a:pPr>
            <a:r>
              <a:rPr lang="en-US" sz="1850" b="1" dirty="0">
                <a:solidFill>
                  <a:srgbClr val="272525"/>
                </a:solidFill>
                <a:latin typeface="Source Sans Pro" pitchFamily="34" charset="0"/>
                <a:ea typeface="Source Sans Pro" pitchFamily="34" charset="-122"/>
                <a:cs typeface="Source Sans Pro" pitchFamily="34" charset="-120"/>
              </a:rPr>
              <a:t>Venugopal Katragadda(A20544776)</a:t>
            </a:r>
            <a:endParaRPr lang="en-US" sz="1850" dirty="0"/>
          </a:p>
        </p:txBody>
      </p:sp>
      <p:sp>
        <p:nvSpPr>
          <p:cNvPr id="8" name="Text 5"/>
          <p:cNvSpPr/>
          <p:nvPr/>
        </p:nvSpPr>
        <p:spPr>
          <a:xfrm>
            <a:off x="837724" y="5517713"/>
            <a:ext cx="7468553" cy="383024"/>
          </a:xfrm>
          <a:prstGeom prst="rect">
            <a:avLst/>
          </a:prstGeom>
          <a:noFill/>
          <a:ln/>
        </p:spPr>
        <p:txBody>
          <a:bodyPr wrap="none" lIns="0" tIns="0" rIns="0" bIns="0" rtlCol="0" anchor="t"/>
          <a:lstStyle/>
          <a:p>
            <a:pPr marL="0" indent="0" algn="l">
              <a:lnSpc>
                <a:spcPts val="3000"/>
              </a:lnSpc>
              <a:buNone/>
            </a:pPr>
            <a:r>
              <a:rPr lang="en-US" sz="1850" b="1" dirty="0">
                <a:solidFill>
                  <a:srgbClr val="272525"/>
                </a:solidFill>
                <a:latin typeface="Source Sans Pro" pitchFamily="34" charset="0"/>
                <a:ea typeface="Source Sans Pro" pitchFamily="34" charset="-122"/>
                <a:cs typeface="Source Sans Pro" pitchFamily="34" charset="-120"/>
              </a:rPr>
              <a:t>Sannihitha Gudimalla (A20560248)</a:t>
            </a:r>
            <a:endParaRPr lang="en-US" sz="1850" dirty="0"/>
          </a:p>
        </p:txBody>
      </p:sp>
      <p:sp>
        <p:nvSpPr>
          <p:cNvPr id="9" name="Text 6"/>
          <p:cNvSpPr/>
          <p:nvPr/>
        </p:nvSpPr>
        <p:spPr>
          <a:xfrm>
            <a:off x="837724" y="6169938"/>
            <a:ext cx="7468553" cy="383024"/>
          </a:xfrm>
          <a:prstGeom prst="rect">
            <a:avLst/>
          </a:prstGeom>
          <a:noFill/>
          <a:ln/>
        </p:spPr>
        <p:txBody>
          <a:bodyPr wrap="none" lIns="0" tIns="0" rIns="0" bIns="0" rtlCol="0" anchor="t"/>
          <a:lstStyle/>
          <a:p>
            <a:pPr marL="0" indent="0" algn="l">
              <a:lnSpc>
                <a:spcPts val="3000"/>
              </a:lnSpc>
              <a:buNone/>
            </a:pPr>
            <a:r>
              <a:rPr lang="en-US" sz="1850" b="1" dirty="0">
                <a:solidFill>
                  <a:srgbClr val="272525"/>
                </a:solidFill>
                <a:latin typeface="Source Sans Pro" pitchFamily="34" charset="0"/>
                <a:ea typeface="Source Sans Pro" pitchFamily="34" charset="-122"/>
                <a:cs typeface="Source Sans Pro" pitchFamily="34" charset="-120"/>
              </a:rPr>
              <a:t>Sruthi Kondapalli (A20554780)</a:t>
            </a:r>
            <a:endParaRPr lang="en-US" sz="1850" dirty="0"/>
          </a:p>
        </p:txBody>
      </p:sp>
      <p:sp>
        <p:nvSpPr>
          <p:cNvPr id="10" name="Text 7"/>
          <p:cNvSpPr/>
          <p:nvPr/>
        </p:nvSpPr>
        <p:spPr>
          <a:xfrm>
            <a:off x="837724" y="6822162"/>
            <a:ext cx="7468553" cy="383024"/>
          </a:xfrm>
          <a:prstGeom prst="rect">
            <a:avLst/>
          </a:prstGeom>
          <a:noFill/>
          <a:ln/>
        </p:spPr>
        <p:txBody>
          <a:bodyPr wrap="none" lIns="0" tIns="0" rIns="0" bIns="0" rtlCol="0" anchor="t"/>
          <a:lstStyle/>
          <a:p>
            <a:pPr marL="0" indent="0" algn="l">
              <a:lnSpc>
                <a:spcPts val="3000"/>
              </a:lnSpc>
              <a:buNone/>
            </a:pPr>
            <a:r>
              <a:rPr lang="en-US" sz="1850" b="1" dirty="0">
                <a:solidFill>
                  <a:srgbClr val="272525"/>
                </a:solidFill>
                <a:latin typeface="Source Sans Pro" pitchFamily="34" charset="0"/>
                <a:ea typeface="Source Sans Pro" pitchFamily="34" charset="-122"/>
                <a:cs typeface="Source Sans Pro" pitchFamily="34" charset="-120"/>
              </a:rPr>
              <a:t>Bezawada Sai Sravanya (A20561552)</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750094"/>
            <a:ext cx="5632490" cy="704017"/>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Source Serif Pro Semi Bold" pitchFamily="34" charset="0"/>
                <a:ea typeface="Source Serif Pro Semi Bold" pitchFamily="34" charset="-122"/>
                <a:cs typeface="Source Serif Pro Semi Bold" pitchFamily="34" charset="-120"/>
              </a:rPr>
              <a:t>Executive Summary</a:t>
            </a:r>
            <a:endParaRPr lang="en-US" sz="4400" dirty="0"/>
          </a:p>
        </p:txBody>
      </p:sp>
      <p:pic>
        <p:nvPicPr>
          <p:cNvPr id="3" name="Image 0" descr="preencoded.png"/>
          <p:cNvPicPr>
            <a:picLocks noChangeAspect="1"/>
          </p:cNvPicPr>
          <p:nvPr/>
        </p:nvPicPr>
        <p:blipFill>
          <a:blip r:embed="rId3"/>
          <a:stretch>
            <a:fillRect/>
          </a:stretch>
        </p:blipFill>
        <p:spPr>
          <a:xfrm>
            <a:off x="837724" y="1932861"/>
            <a:ext cx="598408" cy="598408"/>
          </a:xfrm>
          <a:prstGeom prst="rect">
            <a:avLst/>
          </a:prstGeom>
        </p:spPr>
      </p:pic>
      <p:sp>
        <p:nvSpPr>
          <p:cNvPr id="4" name="Text 1"/>
          <p:cNvSpPr/>
          <p:nvPr/>
        </p:nvSpPr>
        <p:spPr>
          <a:xfrm>
            <a:off x="837724" y="277058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Key research issue</a:t>
            </a:r>
            <a:endParaRPr lang="en-US" sz="2200" dirty="0"/>
          </a:p>
        </p:txBody>
      </p:sp>
      <p:sp>
        <p:nvSpPr>
          <p:cNvPr id="5" name="Text 2"/>
          <p:cNvSpPr/>
          <p:nvPr/>
        </p:nvSpPr>
        <p:spPr>
          <a:xfrm>
            <a:off x="837724" y="3266123"/>
            <a:ext cx="4118848" cy="3447217"/>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This research aims to explore the dynamics behind YouTube trending videos and pinpoint the critical factors that drive their success. Through a comprehensive analysis, we investigated various aspects of trending content to gain meaningful insights into what contributes to a video's popularity on the platform.</a:t>
            </a:r>
            <a:endParaRPr lang="en-US" sz="1850" dirty="0"/>
          </a:p>
        </p:txBody>
      </p:sp>
      <p:pic>
        <p:nvPicPr>
          <p:cNvPr id="6" name="Image 1" descr="preencoded.png"/>
          <p:cNvPicPr>
            <a:picLocks noChangeAspect="1"/>
          </p:cNvPicPr>
          <p:nvPr/>
        </p:nvPicPr>
        <p:blipFill>
          <a:blip r:embed="rId4"/>
          <a:stretch>
            <a:fillRect/>
          </a:stretch>
        </p:blipFill>
        <p:spPr>
          <a:xfrm>
            <a:off x="5255776" y="1932861"/>
            <a:ext cx="598408" cy="598408"/>
          </a:xfrm>
          <a:prstGeom prst="rect">
            <a:avLst/>
          </a:prstGeom>
        </p:spPr>
      </p:pic>
      <p:sp>
        <p:nvSpPr>
          <p:cNvPr id="7" name="Text 3"/>
          <p:cNvSpPr/>
          <p:nvPr/>
        </p:nvSpPr>
        <p:spPr>
          <a:xfrm>
            <a:off x="5255776" y="277058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Findings</a:t>
            </a:r>
            <a:endParaRPr lang="en-US" sz="2200" dirty="0"/>
          </a:p>
        </p:txBody>
      </p:sp>
      <p:sp>
        <p:nvSpPr>
          <p:cNvPr id="8" name="Text 4"/>
          <p:cNvSpPr/>
          <p:nvPr/>
        </p:nvSpPr>
        <p:spPr>
          <a:xfrm>
            <a:off x="5255776" y="3266123"/>
            <a:ext cx="4118848" cy="4213265"/>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Our analysis provided important insights into several factors influencing trending videos, including optimal category choices, ideal title lengths, and the influence of sentiment in descriptions on viewership. We also compared our results with existing trends to offer a broader perspective on the data. However, our efforts to apply cluster analysis for deeper insights were less successful than anticipated.</a:t>
            </a:r>
            <a:endParaRPr lang="en-US" sz="1850" dirty="0"/>
          </a:p>
        </p:txBody>
      </p:sp>
      <p:pic>
        <p:nvPicPr>
          <p:cNvPr id="9" name="Image 2" descr="preencoded.png"/>
          <p:cNvPicPr>
            <a:picLocks noChangeAspect="1"/>
          </p:cNvPicPr>
          <p:nvPr/>
        </p:nvPicPr>
        <p:blipFill>
          <a:blip r:embed="rId5"/>
          <a:stretch>
            <a:fillRect/>
          </a:stretch>
        </p:blipFill>
        <p:spPr>
          <a:xfrm>
            <a:off x="9673828" y="1932861"/>
            <a:ext cx="598408" cy="598408"/>
          </a:xfrm>
          <a:prstGeom prst="rect">
            <a:avLst/>
          </a:prstGeom>
        </p:spPr>
      </p:pic>
      <p:sp>
        <p:nvSpPr>
          <p:cNvPr id="10" name="Text 5"/>
          <p:cNvSpPr/>
          <p:nvPr/>
        </p:nvSpPr>
        <p:spPr>
          <a:xfrm>
            <a:off x="9673828" y="277058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Future Work</a:t>
            </a:r>
            <a:endParaRPr lang="en-US" sz="2200" dirty="0"/>
          </a:p>
        </p:txBody>
      </p:sp>
      <p:sp>
        <p:nvSpPr>
          <p:cNvPr id="11" name="Text 6"/>
          <p:cNvSpPr/>
          <p:nvPr/>
        </p:nvSpPr>
        <p:spPr>
          <a:xfrm>
            <a:off x="9673828" y="3266123"/>
            <a:ext cx="4118848" cy="3830241"/>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Future work could involve a deeper examination of the identified clusters and the development of predictive models to forecast a video's likelihood of trending. Such models would leverage key input features to not only predict trending potential but also provide strategic recommendations for optimizing content to enhance its chances of achieving trending status.</a:t>
            </a:r>
            <a:endParaRPr lang="en-US" sz="1850" dirty="0"/>
          </a:p>
        </p:txBody>
      </p:sp>
      <p:sp>
        <p:nvSpPr>
          <p:cNvPr id="12" name="TextBox 11">
            <a:extLst>
              <a:ext uri="{FF2B5EF4-FFF2-40B4-BE49-F238E27FC236}">
                <a16:creationId xmlns:a16="http://schemas.microsoft.com/office/drawing/2014/main" id="{9EA0A978-7B55-8905-FC4E-69B8DEBDCB71}"/>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2351365"/>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Overview of project</a:t>
            </a:r>
            <a:endParaRPr lang="en-US" sz="4400" dirty="0"/>
          </a:p>
        </p:txBody>
      </p:sp>
      <p:sp>
        <p:nvSpPr>
          <p:cNvPr id="3" name="Text 1"/>
          <p:cNvSpPr/>
          <p:nvPr/>
        </p:nvSpPr>
        <p:spPr>
          <a:xfrm>
            <a:off x="837724" y="3414355"/>
            <a:ext cx="4505920" cy="563285"/>
          </a:xfrm>
          <a:prstGeom prst="rect">
            <a:avLst/>
          </a:prstGeom>
          <a:noFill/>
          <a:ln/>
        </p:spPr>
        <p:txBody>
          <a:bodyPr wrap="none" lIns="0" tIns="0" rIns="0" bIns="0" rtlCol="0" anchor="t"/>
          <a:lstStyle/>
          <a:p>
            <a:pPr marL="0" indent="0" algn="l">
              <a:lnSpc>
                <a:spcPts val="4400"/>
              </a:lnSpc>
              <a:buNone/>
            </a:pPr>
            <a:r>
              <a:rPr lang="en-US" sz="3500" dirty="0">
                <a:solidFill>
                  <a:srgbClr val="000000"/>
                </a:solidFill>
                <a:latin typeface="Source Serif Pro Semi Bold" pitchFamily="34" charset="0"/>
                <a:ea typeface="Source Serif Pro Semi Bold" pitchFamily="34" charset="-122"/>
                <a:cs typeface="Source Serif Pro Semi Bold" pitchFamily="34" charset="-120"/>
              </a:rPr>
              <a:t>Methodology</a:t>
            </a:r>
            <a:endParaRPr lang="en-US" sz="3500" dirty="0"/>
          </a:p>
        </p:txBody>
      </p:sp>
      <p:pic>
        <p:nvPicPr>
          <p:cNvPr id="4" name="Image 0" descr="preencoded.png"/>
          <p:cNvPicPr>
            <a:picLocks noChangeAspect="1"/>
          </p:cNvPicPr>
          <p:nvPr/>
        </p:nvPicPr>
        <p:blipFill>
          <a:blip r:embed="rId3"/>
          <a:stretch>
            <a:fillRect/>
          </a:stretch>
        </p:blipFill>
        <p:spPr>
          <a:xfrm>
            <a:off x="837724" y="4336613"/>
            <a:ext cx="598408" cy="598408"/>
          </a:xfrm>
          <a:prstGeom prst="rect">
            <a:avLst/>
          </a:prstGeom>
        </p:spPr>
      </p:pic>
      <p:sp>
        <p:nvSpPr>
          <p:cNvPr id="5" name="Text 2"/>
          <p:cNvSpPr/>
          <p:nvPr/>
        </p:nvSpPr>
        <p:spPr>
          <a:xfrm>
            <a:off x="837724" y="517433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DATA COLLECTION</a:t>
            </a:r>
            <a:endParaRPr lang="en-US" sz="2200" dirty="0"/>
          </a:p>
        </p:txBody>
      </p:sp>
      <p:pic>
        <p:nvPicPr>
          <p:cNvPr id="6" name="Image 1" descr="preencoded.png"/>
          <p:cNvPicPr>
            <a:picLocks noChangeAspect="1"/>
          </p:cNvPicPr>
          <p:nvPr/>
        </p:nvPicPr>
        <p:blipFill>
          <a:blip r:embed="rId4"/>
          <a:stretch>
            <a:fillRect/>
          </a:stretch>
        </p:blipFill>
        <p:spPr>
          <a:xfrm>
            <a:off x="4151233" y="4336613"/>
            <a:ext cx="598408" cy="598408"/>
          </a:xfrm>
          <a:prstGeom prst="rect">
            <a:avLst/>
          </a:prstGeom>
        </p:spPr>
      </p:pic>
      <p:sp>
        <p:nvSpPr>
          <p:cNvPr id="7" name="Text 3"/>
          <p:cNvSpPr/>
          <p:nvPr/>
        </p:nvSpPr>
        <p:spPr>
          <a:xfrm>
            <a:off x="4151233" y="5174337"/>
            <a:ext cx="2961918"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DATA PREPROCESSING</a:t>
            </a:r>
            <a:endParaRPr lang="en-US" sz="2200" dirty="0"/>
          </a:p>
        </p:txBody>
      </p:sp>
      <p:pic>
        <p:nvPicPr>
          <p:cNvPr id="8" name="Image 2" descr="preencoded.png"/>
          <p:cNvPicPr>
            <a:picLocks noChangeAspect="1"/>
          </p:cNvPicPr>
          <p:nvPr/>
        </p:nvPicPr>
        <p:blipFill>
          <a:blip r:embed="rId5"/>
          <a:stretch>
            <a:fillRect/>
          </a:stretch>
        </p:blipFill>
        <p:spPr>
          <a:xfrm>
            <a:off x="7464743" y="4336613"/>
            <a:ext cx="598408" cy="598408"/>
          </a:xfrm>
          <a:prstGeom prst="rect">
            <a:avLst/>
          </a:prstGeom>
        </p:spPr>
      </p:pic>
      <p:sp>
        <p:nvSpPr>
          <p:cNvPr id="9" name="Text 4"/>
          <p:cNvSpPr/>
          <p:nvPr/>
        </p:nvSpPr>
        <p:spPr>
          <a:xfrm>
            <a:off x="7464743" y="5174337"/>
            <a:ext cx="3014305"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EXPLORATORY DATA ANALYSIS (EDA)</a:t>
            </a:r>
            <a:endParaRPr lang="en-US" sz="2200" dirty="0"/>
          </a:p>
        </p:txBody>
      </p:sp>
      <p:pic>
        <p:nvPicPr>
          <p:cNvPr id="10" name="Image 3" descr="preencoded.png"/>
          <p:cNvPicPr>
            <a:picLocks noChangeAspect="1"/>
          </p:cNvPicPr>
          <p:nvPr/>
        </p:nvPicPr>
        <p:blipFill>
          <a:blip r:embed="rId6"/>
          <a:stretch>
            <a:fillRect/>
          </a:stretch>
        </p:blipFill>
        <p:spPr>
          <a:xfrm>
            <a:off x="10778252" y="4336613"/>
            <a:ext cx="598408" cy="598408"/>
          </a:xfrm>
          <a:prstGeom prst="rect">
            <a:avLst/>
          </a:prstGeom>
        </p:spPr>
      </p:pic>
      <p:sp>
        <p:nvSpPr>
          <p:cNvPr id="11" name="Text 5"/>
          <p:cNvSpPr/>
          <p:nvPr/>
        </p:nvSpPr>
        <p:spPr>
          <a:xfrm>
            <a:off x="10778252" y="517433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CLUSTER ANALYSIS</a:t>
            </a:r>
            <a:endParaRPr lang="en-US" sz="2200" dirty="0"/>
          </a:p>
        </p:txBody>
      </p:sp>
      <p:sp>
        <p:nvSpPr>
          <p:cNvPr id="12" name="TextBox 11">
            <a:extLst>
              <a:ext uri="{FF2B5EF4-FFF2-40B4-BE49-F238E27FC236}">
                <a16:creationId xmlns:a16="http://schemas.microsoft.com/office/drawing/2014/main" id="{9F12187C-E9D8-8AFF-95AE-559502AF6283}"/>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0AAD52C3-F510-4AD2-8B1D-7D8A574B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626742"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4319741-0CCB-F91B-87C4-A03DC4691B4F}"/>
              </a:ext>
            </a:extLst>
          </p:cNvPr>
          <p:cNvSpPr txBox="1"/>
          <p:nvPr/>
        </p:nvSpPr>
        <p:spPr>
          <a:xfrm>
            <a:off x="1005836" y="5341210"/>
            <a:ext cx="6205559" cy="199191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800">
                <a:latin typeface="+mj-lt"/>
                <a:ea typeface="+mj-ea"/>
                <a:cs typeface="+mj-cs"/>
              </a:rPr>
              <a:t>Project Plan</a:t>
            </a:r>
          </a:p>
        </p:txBody>
      </p:sp>
      <p:pic>
        <p:nvPicPr>
          <p:cNvPr id="7" name="Picture 6">
            <a:extLst>
              <a:ext uri="{FF2B5EF4-FFF2-40B4-BE49-F238E27FC236}">
                <a16:creationId xmlns:a16="http://schemas.microsoft.com/office/drawing/2014/main" id="{790E4F4B-BE0D-75E4-D425-FE5135E191D8}"/>
              </a:ext>
            </a:extLst>
          </p:cNvPr>
          <p:cNvPicPr>
            <a:picLocks noChangeAspect="1"/>
          </p:cNvPicPr>
          <p:nvPr/>
        </p:nvPicPr>
        <p:blipFill>
          <a:blip r:embed="rId2"/>
          <a:stretch>
            <a:fillRect/>
          </a:stretch>
        </p:blipFill>
        <p:spPr>
          <a:xfrm>
            <a:off x="7313370" y="553255"/>
            <a:ext cx="5481812" cy="4234700"/>
          </a:xfrm>
          <a:prstGeom prst="rect">
            <a:avLst/>
          </a:prstGeom>
        </p:spPr>
      </p:pic>
      <p:pic>
        <p:nvPicPr>
          <p:cNvPr id="3" name="Picture 2">
            <a:extLst>
              <a:ext uri="{FF2B5EF4-FFF2-40B4-BE49-F238E27FC236}">
                <a16:creationId xmlns:a16="http://schemas.microsoft.com/office/drawing/2014/main" id="{DAAFDA7A-5200-A449-10EB-665AC11832E5}"/>
              </a:ext>
            </a:extLst>
          </p:cNvPr>
          <p:cNvPicPr>
            <a:picLocks noChangeAspect="1"/>
          </p:cNvPicPr>
          <p:nvPr/>
        </p:nvPicPr>
        <p:blipFill>
          <a:blip r:embed="rId3"/>
          <a:stretch>
            <a:fillRect/>
          </a:stretch>
        </p:blipFill>
        <p:spPr>
          <a:xfrm>
            <a:off x="1129817" y="553255"/>
            <a:ext cx="5481812" cy="4234700"/>
          </a:xfrm>
          <a:prstGeom prst="rect">
            <a:avLst/>
          </a:prstGeom>
        </p:spPr>
      </p:pic>
      <p:sp>
        <p:nvSpPr>
          <p:cNvPr id="9" name="TextBox 8">
            <a:extLst>
              <a:ext uri="{FF2B5EF4-FFF2-40B4-BE49-F238E27FC236}">
                <a16:creationId xmlns:a16="http://schemas.microsoft.com/office/drawing/2014/main" id="{13697AD8-283A-09AA-7AFB-24D2C14D72CF}"/>
              </a:ext>
            </a:extLst>
          </p:cNvPr>
          <p:cNvSpPr txBox="1"/>
          <p:nvPr/>
        </p:nvSpPr>
        <p:spPr>
          <a:xfrm>
            <a:off x="6894095" y="5029200"/>
            <a:ext cx="6682053" cy="2315656"/>
          </a:xfrm>
          <a:prstGeom prst="rect">
            <a:avLst/>
          </a:prstGeom>
        </p:spPr>
        <p:txBody>
          <a:bodyPr vert="horz" lIns="91440" tIns="45720" rIns="91440" bIns="45720" rtlCol="0" anchor="ctr">
            <a:normAutofit/>
          </a:bodyPr>
          <a:lstStyle/>
          <a:p>
            <a:pPr>
              <a:lnSpc>
                <a:spcPct val="90000"/>
              </a:lnSpc>
              <a:spcAft>
                <a:spcPts val="600"/>
              </a:spcAft>
            </a:pPr>
            <a:r>
              <a:rPr lang="en-US" b="1" i="0" u="none" strike="noStrike" baseline="0" dirty="0"/>
              <a:t>Updated Plan:</a:t>
            </a:r>
          </a:p>
          <a:p>
            <a:pPr>
              <a:lnSpc>
                <a:spcPct val="90000"/>
              </a:lnSpc>
              <a:spcAft>
                <a:spcPts val="600"/>
              </a:spcAft>
            </a:pPr>
            <a:endParaRPr lang="en-US" sz="1600" b="1" i="0" u="none" strike="noStrike" baseline="0" dirty="0"/>
          </a:p>
          <a:p>
            <a:pPr>
              <a:lnSpc>
                <a:spcPct val="90000"/>
              </a:lnSpc>
              <a:spcAft>
                <a:spcPts val="600"/>
              </a:spcAft>
            </a:pPr>
            <a:r>
              <a:rPr lang="en-US" sz="1600" b="0" i="0" u="none" strike="noStrike" baseline="0" dirty="0"/>
              <a:t>1. We made a lot more graphs and charts than we first thought. These visuals helped us see trends in the YouTube data more clearly.</a:t>
            </a:r>
          </a:p>
          <a:p>
            <a:pPr>
              <a:lnSpc>
                <a:spcPct val="90000"/>
              </a:lnSpc>
              <a:spcAft>
                <a:spcPts val="600"/>
              </a:spcAft>
            </a:pPr>
            <a:r>
              <a:rPr lang="en-US" sz="1600" dirty="0"/>
              <a:t>2</a:t>
            </a:r>
            <a:r>
              <a:rPr lang="en-US" sz="1600" b="0" i="0" u="none" strike="noStrike" baseline="0" dirty="0"/>
              <a:t>. We faced unexpected problems with the YouTube data scrapping. It took us longer to get the data we needed, but we found solutions and kept going with our analysis</a:t>
            </a:r>
            <a:r>
              <a:rPr lang="en-US" sz="1400" b="0" i="0" u="none" strike="noStrike" baseline="0" dirty="0"/>
              <a:t>.</a:t>
            </a:r>
            <a:endParaRPr lang="en-US" sz="1400" dirty="0"/>
          </a:p>
        </p:txBody>
      </p:sp>
    </p:spTree>
    <p:extLst>
      <p:ext uri="{BB962C8B-B14F-4D97-AF65-F5344CB8AC3E}">
        <p14:creationId xmlns:p14="http://schemas.microsoft.com/office/powerpoint/2010/main" val="2184405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1410" y="629722"/>
            <a:ext cx="5387935" cy="673418"/>
          </a:xfrm>
          <a:prstGeom prst="rect">
            <a:avLst/>
          </a:prstGeom>
          <a:noFill/>
          <a:ln/>
        </p:spPr>
        <p:txBody>
          <a:bodyPr wrap="none" lIns="0" tIns="0" rIns="0" bIns="0" rtlCol="0" anchor="t"/>
          <a:lstStyle/>
          <a:p>
            <a:pPr marL="0" indent="0" algn="l">
              <a:lnSpc>
                <a:spcPts val="5300"/>
              </a:lnSpc>
              <a:buNone/>
            </a:pPr>
            <a:r>
              <a:rPr lang="en-US" sz="4200" dirty="0">
                <a:solidFill>
                  <a:srgbClr val="000000"/>
                </a:solidFill>
                <a:latin typeface="Source Serif Pro Semi Bold" pitchFamily="34" charset="0"/>
                <a:ea typeface="Source Serif Pro Semi Bold" pitchFamily="34" charset="-122"/>
                <a:cs typeface="Source Serif Pro Semi Bold" pitchFamily="34" charset="-120"/>
              </a:rPr>
              <a:t>Data Sources</a:t>
            </a:r>
            <a:endParaRPr lang="en-US" sz="4200" dirty="0"/>
          </a:p>
        </p:txBody>
      </p:sp>
      <p:sp>
        <p:nvSpPr>
          <p:cNvPr id="3" name="Text 1"/>
          <p:cNvSpPr/>
          <p:nvPr/>
        </p:nvSpPr>
        <p:spPr>
          <a:xfrm>
            <a:off x="801410" y="1875473"/>
            <a:ext cx="3232785" cy="403979"/>
          </a:xfrm>
          <a:prstGeom prst="rect">
            <a:avLst/>
          </a:prstGeom>
          <a:noFill/>
          <a:ln/>
        </p:spPr>
        <p:txBody>
          <a:bodyPr wrap="none" lIns="0" tIns="0" rIns="0" bIns="0" rtlCol="0" anchor="t"/>
          <a:lstStyle/>
          <a:p>
            <a:pPr marL="0" indent="0" algn="l">
              <a:lnSpc>
                <a:spcPts val="3150"/>
              </a:lnSpc>
              <a:buNone/>
            </a:pPr>
            <a:r>
              <a:rPr lang="en-US" sz="2500" dirty="0">
                <a:solidFill>
                  <a:srgbClr val="000000"/>
                </a:solidFill>
                <a:latin typeface="Source Serif Pro Semi Bold" pitchFamily="34" charset="0"/>
                <a:ea typeface="Source Serif Pro Semi Bold" pitchFamily="34" charset="-122"/>
                <a:cs typeface="Source Serif Pro Semi Bold" pitchFamily="34" charset="-120"/>
              </a:rPr>
              <a:t>Kaggle Dataset</a:t>
            </a:r>
            <a:endParaRPr lang="en-US" sz="2500" dirty="0"/>
          </a:p>
        </p:txBody>
      </p:sp>
      <p:pic>
        <p:nvPicPr>
          <p:cNvPr id="4" name="Image 0" descr="preencoded.png"/>
          <p:cNvPicPr>
            <a:picLocks noChangeAspect="1"/>
          </p:cNvPicPr>
          <p:nvPr/>
        </p:nvPicPr>
        <p:blipFill>
          <a:blip r:embed="rId3"/>
          <a:stretch>
            <a:fillRect/>
          </a:stretch>
        </p:blipFill>
        <p:spPr>
          <a:xfrm>
            <a:off x="801410" y="2536984"/>
            <a:ext cx="5867876" cy="4807506"/>
          </a:xfrm>
          <a:prstGeom prst="rect">
            <a:avLst/>
          </a:prstGeom>
        </p:spPr>
      </p:pic>
      <p:sp>
        <p:nvSpPr>
          <p:cNvPr id="5" name="Text 2"/>
          <p:cNvSpPr/>
          <p:nvPr/>
        </p:nvSpPr>
        <p:spPr>
          <a:xfrm>
            <a:off x="7602141" y="1875473"/>
            <a:ext cx="3232785" cy="403979"/>
          </a:xfrm>
          <a:prstGeom prst="rect">
            <a:avLst/>
          </a:prstGeom>
          <a:noFill/>
          <a:ln/>
        </p:spPr>
        <p:txBody>
          <a:bodyPr wrap="none" lIns="0" tIns="0" rIns="0" bIns="0" rtlCol="0" anchor="t"/>
          <a:lstStyle/>
          <a:p>
            <a:pPr marL="0" indent="0" algn="l">
              <a:lnSpc>
                <a:spcPts val="3150"/>
              </a:lnSpc>
              <a:buNone/>
            </a:pPr>
            <a:r>
              <a:rPr lang="en-US" sz="2500" dirty="0">
                <a:solidFill>
                  <a:srgbClr val="000000"/>
                </a:solidFill>
                <a:latin typeface="Source Serif Pro Semi Bold" pitchFamily="34" charset="0"/>
                <a:ea typeface="Source Serif Pro Semi Bold" pitchFamily="34" charset="-122"/>
                <a:cs typeface="Source Serif Pro Semi Bold" pitchFamily="34" charset="-120"/>
              </a:rPr>
              <a:t>YouTube API</a:t>
            </a:r>
            <a:endParaRPr lang="en-US" sz="2500" dirty="0"/>
          </a:p>
        </p:txBody>
      </p:sp>
      <p:pic>
        <p:nvPicPr>
          <p:cNvPr id="6" name="Image 1" descr="preencoded.png"/>
          <p:cNvPicPr>
            <a:picLocks noChangeAspect="1"/>
          </p:cNvPicPr>
          <p:nvPr/>
        </p:nvPicPr>
        <p:blipFill>
          <a:blip r:embed="rId4"/>
          <a:stretch>
            <a:fillRect/>
          </a:stretch>
        </p:blipFill>
        <p:spPr>
          <a:xfrm>
            <a:off x="7602141" y="2536984"/>
            <a:ext cx="6053852" cy="3580567"/>
          </a:xfrm>
          <a:prstGeom prst="rect">
            <a:avLst/>
          </a:prstGeom>
        </p:spPr>
      </p:pic>
      <p:sp>
        <p:nvSpPr>
          <p:cNvPr id="7" name="TextBox 6">
            <a:extLst>
              <a:ext uri="{FF2B5EF4-FFF2-40B4-BE49-F238E27FC236}">
                <a16:creationId xmlns:a16="http://schemas.microsoft.com/office/drawing/2014/main" id="{D799B0C9-5275-545B-7F95-5196D07FAE70}"/>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904280"/>
            <a:ext cx="5069205" cy="633651"/>
          </a:xfrm>
          <a:prstGeom prst="rect">
            <a:avLst/>
          </a:prstGeom>
          <a:noFill/>
          <a:ln/>
        </p:spPr>
        <p:txBody>
          <a:bodyPr wrap="none" lIns="0" tIns="0" rIns="0" bIns="0" rtlCol="0" anchor="t"/>
          <a:lstStyle/>
          <a:p>
            <a:pPr marL="0" indent="0" algn="l">
              <a:lnSpc>
                <a:spcPts val="4950"/>
              </a:lnSpc>
              <a:buNone/>
            </a:pPr>
            <a:r>
              <a:rPr lang="en-US" sz="3950" dirty="0">
                <a:solidFill>
                  <a:srgbClr val="000000"/>
                </a:solidFill>
                <a:latin typeface="Source Serif Pro Semi Bold" pitchFamily="34" charset="0"/>
                <a:ea typeface="Source Serif Pro Semi Bold" pitchFamily="34" charset="-122"/>
                <a:cs typeface="Source Serif Pro Semi Bold" pitchFamily="34" charset="-120"/>
              </a:rPr>
              <a:t>Data Preprocessing</a:t>
            </a:r>
            <a:endParaRPr lang="en-US" sz="3950" dirty="0"/>
          </a:p>
        </p:txBody>
      </p:sp>
      <p:pic>
        <p:nvPicPr>
          <p:cNvPr id="3" name="Image 0" descr="preencoded.png"/>
          <p:cNvPicPr>
            <a:picLocks noChangeAspect="1"/>
          </p:cNvPicPr>
          <p:nvPr/>
        </p:nvPicPr>
        <p:blipFill>
          <a:blip r:embed="rId3"/>
          <a:stretch>
            <a:fillRect/>
          </a:stretch>
        </p:blipFill>
        <p:spPr>
          <a:xfrm>
            <a:off x="837724" y="1968698"/>
            <a:ext cx="3238738" cy="861655"/>
          </a:xfrm>
          <a:prstGeom prst="rect">
            <a:avLst/>
          </a:prstGeom>
        </p:spPr>
      </p:pic>
      <p:sp>
        <p:nvSpPr>
          <p:cNvPr id="4" name="Text 1"/>
          <p:cNvSpPr/>
          <p:nvPr/>
        </p:nvSpPr>
        <p:spPr>
          <a:xfrm>
            <a:off x="1053108" y="3153489"/>
            <a:ext cx="2807970" cy="1599367"/>
          </a:xfrm>
          <a:prstGeom prst="rect">
            <a:avLst/>
          </a:prstGeom>
          <a:noFill/>
          <a:ln/>
        </p:spPr>
        <p:txBody>
          <a:bodyPr wrap="squar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Converting the categorical variable </a:t>
            </a:r>
            <a:r>
              <a:rPr lang="en-US" sz="1950" dirty="0">
                <a:solidFill>
                  <a:srgbClr val="272525"/>
                </a:solidFill>
                <a:highlight>
                  <a:srgbClr val="F0D4F7"/>
                </a:highlight>
                <a:latin typeface="Consolas" pitchFamily="34" charset="0"/>
                <a:ea typeface="Consolas" pitchFamily="34" charset="-122"/>
                <a:cs typeface="Consolas" pitchFamily="34" charset="-120"/>
              </a:rPr>
              <a:t>category_ID</a:t>
            </a:r>
            <a:r>
              <a:rPr lang="en-US" sz="1950" dirty="0">
                <a:solidFill>
                  <a:srgbClr val="272525"/>
                </a:solidFill>
                <a:latin typeface="Source Serif Pro Semi Bold" pitchFamily="34" charset="0"/>
                <a:ea typeface="Source Serif Pro Semi Bold" pitchFamily="34" charset="-122"/>
                <a:cs typeface="Source Serif Pro Semi Bold" pitchFamily="34" charset="-120"/>
              </a:rPr>
              <a:t> and incorporating a new </a:t>
            </a:r>
            <a:r>
              <a:rPr lang="en-US" sz="1950" dirty="0">
                <a:solidFill>
                  <a:srgbClr val="272525"/>
                </a:solidFill>
                <a:highlight>
                  <a:srgbClr val="F0D4F7"/>
                </a:highlight>
                <a:latin typeface="Consolas" pitchFamily="34" charset="0"/>
                <a:ea typeface="Consolas" pitchFamily="34" charset="-122"/>
                <a:cs typeface="Consolas" pitchFamily="34" charset="-120"/>
              </a:rPr>
              <a:t>country</a:t>
            </a:r>
            <a:r>
              <a:rPr lang="en-US" sz="1950" dirty="0">
                <a:solidFill>
                  <a:srgbClr val="272525"/>
                </a:solidFill>
                <a:latin typeface="Source Serif Pro Semi Bold" pitchFamily="34" charset="0"/>
                <a:ea typeface="Source Serif Pro Semi Bold" pitchFamily="34" charset="-122"/>
                <a:cs typeface="Source Serif Pro Semi Bold" pitchFamily="34" charset="-120"/>
              </a:rPr>
              <a:t> variable.</a:t>
            </a:r>
            <a:endParaRPr lang="en-US" sz="1950" dirty="0"/>
          </a:p>
        </p:txBody>
      </p:sp>
      <p:pic>
        <p:nvPicPr>
          <p:cNvPr id="5" name="Image 1" descr="preencoded.png"/>
          <p:cNvPicPr>
            <a:picLocks noChangeAspect="1"/>
          </p:cNvPicPr>
          <p:nvPr/>
        </p:nvPicPr>
        <p:blipFill>
          <a:blip r:embed="rId4"/>
          <a:stretch>
            <a:fillRect/>
          </a:stretch>
        </p:blipFill>
        <p:spPr>
          <a:xfrm>
            <a:off x="4076462" y="1968698"/>
            <a:ext cx="3238738" cy="861655"/>
          </a:xfrm>
          <a:prstGeom prst="rect">
            <a:avLst/>
          </a:prstGeom>
        </p:spPr>
      </p:pic>
      <p:sp>
        <p:nvSpPr>
          <p:cNvPr id="6" name="Text 2"/>
          <p:cNvSpPr/>
          <p:nvPr/>
        </p:nvSpPr>
        <p:spPr>
          <a:xfrm>
            <a:off x="4291846" y="3153489"/>
            <a:ext cx="2807970" cy="633651"/>
          </a:xfrm>
          <a:prstGeom prst="rect">
            <a:avLst/>
          </a:prstGeom>
          <a:noFill/>
          <a:ln/>
        </p:spPr>
        <p:txBody>
          <a:bodyPr wrap="squar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Handling missing values and Duplicates</a:t>
            </a:r>
            <a:endParaRPr lang="en-US" sz="1950" dirty="0"/>
          </a:p>
        </p:txBody>
      </p:sp>
      <p:pic>
        <p:nvPicPr>
          <p:cNvPr id="7" name="Image 2" descr="preencoded.png"/>
          <p:cNvPicPr>
            <a:picLocks noChangeAspect="1"/>
          </p:cNvPicPr>
          <p:nvPr/>
        </p:nvPicPr>
        <p:blipFill>
          <a:blip r:embed="rId5"/>
          <a:stretch>
            <a:fillRect/>
          </a:stretch>
        </p:blipFill>
        <p:spPr>
          <a:xfrm>
            <a:off x="7315200" y="1968698"/>
            <a:ext cx="3238738" cy="861655"/>
          </a:xfrm>
          <a:prstGeom prst="rect">
            <a:avLst/>
          </a:prstGeom>
        </p:spPr>
      </p:pic>
      <p:sp>
        <p:nvSpPr>
          <p:cNvPr id="8" name="Text 3"/>
          <p:cNvSpPr/>
          <p:nvPr/>
        </p:nvSpPr>
        <p:spPr>
          <a:xfrm>
            <a:off x="7530584" y="3153489"/>
            <a:ext cx="2807970" cy="1584127"/>
          </a:xfrm>
          <a:prstGeom prst="rect">
            <a:avLst/>
          </a:prstGeom>
          <a:noFill/>
          <a:ln/>
        </p:spPr>
        <p:txBody>
          <a:bodyPr wrap="squar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Convert the 'trending_date' and 'published_time' columns to datetime format</a:t>
            </a:r>
            <a:endParaRPr lang="en-US" sz="1950" dirty="0"/>
          </a:p>
        </p:txBody>
      </p:sp>
      <p:pic>
        <p:nvPicPr>
          <p:cNvPr id="9" name="Image 3" descr="preencoded.png"/>
          <p:cNvPicPr>
            <a:picLocks noChangeAspect="1"/>
          </p:cNvPicPr>
          <p:nvPr/>
        </p:nvPicPr>
        <p:blipFill>
          <a:blip r:embed="rId6"/>
          <a:stretch>
            <a:fillRect/>
          </a:stretch>
        </p:blipFill>
        <p:spPr>
          <a:xfrm>
            <a:off x="10553938" y="1968698"/>
            <a:ext cx="3238738" cy="861655"/>
          </a:xfrm>
          <a:prstGeom prst="rect">
            <a:avLst/>
          </a:prstGeom>
        </p:spPr>
      </p:pic>
      <p:sp>
        <p:nvSpPr>
          <p:cNvPr id="10" name="Text 4"/>
          <p:cNvSpPr/>
          <p:nvPr/>
        </p:nvSpPr>
        <p:spPr>
          <a:xfrm>
            <a:off x="10769322" y="3153489"/>
            <a:ext cx="2807970" cy="1584127"/>
          </a:xfrm>
          <a:prstGeom prst="rect">
            <a:avLst/>
          </a:prstGeom>
          <a:noFill/>
          <a:ln/>
        </p:spPr>
        <p:txBody>
          <a:bodyPr wrap="squar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Extracting from 'published_time' such as the day of the week or hour of the day the video was published.</a:t>
            </a:r>
            <a:endParaRPr lang="en-US" sz="1950" dirty="0"/>
          </a:p>
        </p:txBody>
      </p:sp>
      <p:pic>
        <p:nvPicPr>
          <p:cNvPr id="11" name="Image 4" descr="preencoded.png"/>
          <p:cNvPicPr>
            <a:picLocks noChangeAspect="1"/>
          </p:cNvPicPr>
          <p:nvPr/>
        </p:nvPicPr>
        <p:blipFill>
          <a:blip r:embed="rId7"/>
          <a:stretch>
            <a:fillRect/>
          </a:stretch>
        </p:blipFill>
        <p:spPr>
          <a:xfrm>
            <a:off x="837724" y="5291376"/>
            <a:ext cx="3238738" cy="861655"/>
          </a:xfrm>
          <a:prstGeom prst="rect">
            <a:avLst/>
          </a:prstGeom>
        </p:spPr>
      </p:pic>
      <p:sp>
        <p:nvSpPr>
          <p:cNvPr id="12" name="Text 5"/>
          <p:cNvSpPr/>
          <p:nvPr/>
        </p:nvSpPr>
        <p:spPr>
          <a:xfrm>
            <a:off x="1053108" y="6476167"/>
            <a:ext cx="2807970" cy="633651"/>
          </a:xfrm>
          <a:prstGeom prst="rect">
            <a:avLst/>
          </a:prstGeom>
          <a:noFill/>
          <a:ln/>
        </p:spPr>
        <p:txBody>
          <a:bodyPr wrap="squar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Text pre - processing for Sentiment analysis</a:t>
            </a:r>
            <a:endParaRPr lang="en-US" sz="1950" dirty="0"/>
          </a:p>
        </p:txBody>
      </p:sp>
      <p:sp>
        <p:nvSpPr>
          <p:cNvPr id="13" name="TextBox 12">
            <a:extLst>
              <a:ext uri="{FF2B5EF4-FFF2-40B4-BE49-F238E27FC236}">
                <a16:creationId xmlns:a16="http://schemas.microsoft.com/office/drawing/2014/main" id="{C4DF6D70-F707-5BBB-0D42-951C588E72AF}"/>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050965"/>
            <a:ext cx="6722031" cy="704017"/>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Source Serif Pro Semi Bold" pitchFamily="34" charset="0"/>
                <a:ea typeface="Source Serif Pro Semi Bold" pitchFamily="34" charset="-122"/>
                <a:cs typeface="Source Serif Pro Semi Bold" pitchFamily="34" charset="-120"/>
              </a:rPr>
              <a:t>Exploratory Data Analysis</a:t>
            </a:r>
            <a:endParaRPr lang="en-US" sz="4400" dirty="0"/>
          </a:p>
        </p:txBody>
      </p:sp>
      <p:sp>
        <p:nvSpPr>
          <p:cNvPr id="3" name="Text 1"/>
          <p:cNvSpPr/>
          <p:nvPr/>
        </p:nvSpPr>
        <p:spPr>
          <a:xfrm>
            <a:off x="837724" y="2353270"/>
            <a:ext cx="3694271" cy="422315"/>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Source Serif Pro Semi Bold" pitchFamily="34" charset="0"/>
                <a:ea typeface="Source Serif Pro Semi Bold" pitchFamily="34" charset="-122"/>
                <a:cs typeface="Source Serif Pro Semi Bold" pitchFamily="34" charset="-120"/>
              </a:rPr>
              <a:t>CORRELATION MATRIX</a:t>
            </a:r>
            <a:endParaRPr lang="en-US" sz="2650" dirty="0"/>
          </a:p>
        </p:txBody>
      </p:sp>
      <p:pic>
        <p:nvPicPr>
          <p:cNvPr id="4" name="Image 0" descr="preencoded.png"/>
          <p:cNvPicPr>
            <a:picLocks noChangeAspect="1"/>
          </p:cNvPicPr>
          <p:nvPr/>
        </p:nvPicPr>
        <p:blipFill>
          <a:blip r:embed="rId3"/>
          <a:stretch>
            <a:fillRect/>
          </a:stretch>
        </p:blipFill>
        <p:spPr>
          <a:xfrm>
            <a:off x="837724" y="3044785"/>
            <a:ext cx="6185535" cy="3864650"/>
          </a:xfrm>
          <a:prstGeom prst="rect">
            <a:avLst/>
          </a:prstGeom>
        </p:spPr>
      </p:pic>
      <p:sp>
        <p:nvSpPr>
          <p:cNvPr id="5" name="Text 2"/>
          <p:cNvSpPr/>
          <p:nvPr/>
        </p:nvSpPr>
        <p:spPr>
          <a:xfrm>
            <a:off x="7614761" y="2353270"/>
            <a:ext cx="3379470" cy="422315"/>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Source Serif Pro Semi Bold" pitchFamily="34" charset="0"/>
                <a:ea typeface="Source Serif Pro Semi Bold" pitchFamily="34" charset="-122"/>
                <a:cs typeface="Source Serif Pro Semi Bold" pitchFamily="34" charset="-120"/>
              </a:rPr>
              <a:t>DISTRIBUTION PLOT</a:t>
            </a:r>
            <a:endParaRPr lang="en-US" sz="2650" dirty="0"/>
          </a:p>
        </p:txBody>
      </p:sp>
      <p:pic>
        <p:nvPicPr>
          <p:cNvPr id="6" name="Image 1" descr="preencoded.png"/>
          <p:cNvPicPr>
            <a:picLocks noChangeAspect="1"/>
          </p:cNvPicPr>
          <p:nvPr/>
        </p:nvPicPr>
        <p:blipFill>
          <a:blip r:embed="rId4"/>
          <a:stretch>
            <a:fillRect/>
          </a:stretch>
        </p:blipFill>
        <p:spPr>
          <a:xfrm>
            <a:off x="7614761" y="3044785"/>
            <a:ext cx="6185535" cy="3524250"/>
          </a:xfrm>
          <a:prstGeom prst="rect">
            <a:avLst/>
          </a:prstGeom>
        </p:spPr>
      </p:pic>
      <p:sp>
        <p:nvSpPr>
          <p:cNvPr id="7" name="TextBox 6">
            <a:extLst>
              <a:ext uri="{FF2B5EF4-FFF2-40B4-BE49-F238E27FC236}">
                <a16:creationId xmlns:a16="http://schemas.microsoft.com/office/drawing/2014/main" id="{C21A405F-576E-669E-41BF-0AA05BBBB44D}"/>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548051"/>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Sentiment Analysis</a:t>
            </a:r>
            <a:endParaRPr lang="en-US" sz="4400" dirty="0"/>
          </a:p>
        </p:txBody>
      </p:sp>
      <p:pic>
        <p:nvPicPr>
          <p:cNvPr id="3" name="Image 0" descr="preencoded.png"/>
          <p:cNvPicPr>
            <a:picLocks noChangeAspect="1"/>
          </p:cNvPicPr>
          <p:nvPr/>
        </p:nvPicPr>
        <p:blipFill>
          <a:blip r:embed="rId3"/>
          <a:stretch>
            <a:fillRect/>
          </a:stretch>
        </p:blipFill>
        <p:spPr>
          <a:xfrm>
            <a:off x="837724" y="2880241"/>
            <a:ext cx="6185535" cy="3531989"/>
          </a:xfrm>
          <a:prstGeom prst="rect">
            <a:avLst/>
          </a:prstGeom>
        </p:spPr>
      </p:pic>
      <p:pic>
        <p:nvPicPr>
          <p:cNvPr id="4" name="Image 1" descr="preencoded.png"/>
          <p:cNvPicPr>
            <a:picLocks noChangeAspect="1"/>
          </p:cNvPicPr>
          <p:nvPr/>
        </p:nvPicPr>
        <p:blipFill>
          <a:blip r:embed="rId4"/>
          <a:stretch>
            <a:fillRect/>
          </a:stretch>
        </p:blipFill>
        <p:spPr>
          <a:xfrm>
            <a:off x="7614761" y="2880241"/>
            <a:ext cx="6185535" cy="3531989"/>
          </a:xfrm>
          <a:prstGeom prst="rect">
            <a:avLst/>
          </a:prstGeom>
        </p:spPr>
      </p:pic>
      <p:sp>
        <p:nvSpPr>
          <p:cNvPr id="5" name="TextBox 4">
            <a:extLst>
              <a:ext uri="{FF2B5EF4-FFF2-40B4-BE49-F238E27FC236}">
                <a16:creationId xmlns:a16="http://schemas.microsoft.com/office/drawing/2014/main" id="{EECC42DE-2F26-70B5-34CC-24502D1E2A7F}"/>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2380655"/>
            <a:ext cx="12954952" cy="1126569"/>
          </a:xfrm>
          <a:prstGeom prst="rect">
            <a:avLst/>
          </a:prstGeom>
          <a:noFill/>
          <a:ln/>
        </p:spPr>
        <p:txBody>
          <a:bodyPr wrap="square" lIns="0" tIns="0" rIns="0" bIns="0" rtlCol="0" anchor="t"/>
          <a:lstStyle/>
          <a:p>
            <a:pPr marL="0" indent="0" algn="l">
              <a:lnSpc>
                <a:spcPts val="4400"/>
              </a:lnSpc>
              <a:buNone/>
            </a:pPr>
            <a:r>
              <a:rPr lang="en-US" sz="3500" b="1" dirty="0">
                <a:solidFill>
                  <a:srgbClr val="000000"/>
                </a:solidFill>
                <a:latin typeface="Source Serif Pro Semi Bold" pitchFamily="34" charset="0"/>
                <a:ea typeface="Source Serif Pro Semi Bold" pitchFamily="34" charset="-122"/>
                <a:cs typeface="Source Serif Pro Semi Bold" pitchFamily="34" charset="-120"/>
              </a:rPr>
              <a:t>WHAT ARE THE TOP 3 CATEGORIES BASED ON THE NUMBER OF VIEWS, FOR EACH OF THE COUNTRIES?</a:t>
            </a:r>
            <a:endParaRPr lang="en-US" sz="3500" dirty="0"/>
          </a:p>
        </p:txBody>
      </p:sp>
      <p:pic>
        <p:nvPicPr>
          <p:cNvPr id="3" name="Image 0" descr="preencoded.png"/>
          <p:cNvPicPr>
            <a:picLocks noChangeAspect="1"/>
          </p:cNvPicPr>
          <p:nvPr/>
        </p:nvPicPr>
        <p:blipFill>
          <a:blip r:embed="rId3"/>
          <a:stretch>
            <a:fillRect/>
          </a:stretch>
        </p:blipFill>
        <p:spPr>
          <a:xfrm>
            <a:off x="837724" y="3985974"/>
            <a:ext cx="3014305" cy="1862971"/>
          </a:xfrm>
          <a:prstGeom prst="rect">
            <a:avLst/>
          </a:prstGeom>
        </p:spPr>
      </p:pic>
      <p:sp>
        <p:nvSpPr>
          <p:cNvPr id="4" name="Text 1"/>
          <p:cNvSpPr/>
          <p:nvPr/>
        </p:nvSpPr>
        <p:spPr>
          <a:xfrm>
            <a:off x="837724" y="5848945"/>
            <a:ext cx="3014305"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5" name="Image 1" descr="preencoded.png"/>
          <p:cNvPicPr>
            <a:picLocks noChangeAspect="1"/>
          </p:cNvPicPr>
          <p:nvPr/>
        </p:nvPicPr>
        <p:blipFill>
          <a:blip r:embed="rId4"/>
          <a:stretch>
            <a:fillRect/>
          </a:stretch>
        </p:blipFill>
        <p:spPr>
          <a:xfrm>
            <a:off x="4151233" y="3985974"/>
            <a:ext cx="3014305" cy="1862971"/>
          </a:xfrm>
          <a:prstGeom prst="rect">
            <a:avLst/>
          </a:prstGeom>
        </p:spPr>
      </p:pic>
      <p:sp>
        <p:nvSpPr>
          <p:cNvPr id="6" name="Text 2"/>
          <p:cNvSpPr/>
          <p:nvPr/>
        </p:nvSpPr>
        <p:spPr>
          <a:xfrm>
            <a:off x="4151233" y="5848945"/>
            <a:ext cx="3014305"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7" name="Image 2" descr="preencoded.png"/>
          <p:cNvPicPr>
            <a:picLocks noChangeAspect="1"/>
          </p:cNvPicPr>
          <p:nvPr/>
        </p:nvPicPr>
        <p:blipFill>
          <a:blip r:embed="rId5"/>
          <a:stretch>
            <a:fillRect/>
          </a:stretch>
        </p:blipFill>
        <p:spPr>
          <a:xfrm>
            <a:off x="7464743" y="3985974"/>
            <a:ext cx="3014305" cy="1862971"/>
          </a:xfrm>
          <a:prstGeom prst="rect">
            <a:avLst/>
          </a:prstGeom>
        </p:spPr>
      </p:pic>
      <p:sp>
        <p:nvSpPr>
          <p:cNvPr id="8" name="Text 3"/>
          <p:cNvSpPr/>
          <p:nvPr/>
        </p:nvSpPr>
        <p:spPr>
          <a:xfrm>
            <a:off x="7464743" y="5848945"/>
            <a:ext cx="3014305"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9" name="Image 3" descr="preencoded.png"/>
          <p:cNvPicPr>
            <a:picLocks noChangeAspect="1"/>
          </p:cNvPicPr>
          <p:nvPr/>
        </p:nvPicPr>
        <p:blipFill>
          <a:blip r:embed="rId6"/>
          <a:stretch>
            <a:fillRect/>
          </a:stretch>
        </p:blipFill>
        <p:spPr>
          <a:xfrm>
            <a:off x="10778252" y="3985974"/>
            <a:ext cx="3014424" cy="1862971"/>
          </a:xfrm>
          <a:prstGeom prst="rect">
            <a:avLst/>
          </a:prstGeom>
        </p:spPr>
      </p:pic>
      <p:sp>
        <p:nvSpPr>
          <p:cNvPr id="10" name="Text 4"/>
          <p:cNvSpPr/>
          <p:nvPr/>
        </p:nvSpPr>
        <p:spPr>
          <a:xfrm>
            <a:off x="10778252" y="5848945"/>
            <a:ext cx="3014424"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11" name="TextBox 10">
            <a:extLst>
              <a:ext uri="{FF2B5EF4-FFF2-40B4-BE49-F238E27FC236}">
                <a16:creationId xmlns:a16="http://schemas.microsoft.com/office/drawing/2014/main" id="{AA7F2FAA-EA9C-472D-98EB-0F20600EFCF9}"/>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45344" y="927735"/>
            <a:ext cx="3091339" cy="3091339"/>
          </a:xfrm>
          <a:prstGeom prst="rect">
            <a:avLst/>
          </a:prstGeom>
        </p:spPr>
      </p:pic>
      <p:pic>
        <p:nvPicPr>
          <p:cNvPr id="3" name="Image 1" descr="preencoded.png"/>
          <p:cNvPicPr>
            <a:picLocks noChangeAspect="1"/>
          </p:cNvPicPr>
          <p:nvPr/>
        </p:nvPicPr>
        <p:blipFill>
          <a:blip r:embed="rId4"/>
          <a:stretch>
            <a:fillRect/>
          </a:stretch>
        </p:blipFill>
        <p:spPr>
          <a:xfrm>
            <a:off x="4128135" y="927735"/>
            <a:ext cx="3091339" cy="3091339"/>
          </a:xfrm>
          <a:prstGeom prst="rect">
            <a:avLst/>
          </a:prstGeom>
        </p:spPr>
      </p:pic>
      <p:pic>
        <p:nvPicPr>
          <p:cNvPr id="4" name="Image 2" descr="preencoded.png"/>
          <p:cNvPicPr>
            <a:picLocks noChangeAspect="1"/>
          </p:cNvPicPr>
          <p:nvPr/>
        </p:nvPicPr>
        <p:blipFill>
          <a:blip r:embed="rId5"/>
          <a:stretch>
            <a:fillRect/>
          </a:stretch>
        </p:blipFill>
        <p:spPr>
          <a:xfrm>
            <a:off x="7410926" y="927735"/>
            <a:ext cx="3091339" cy="3091339"/>
          </a:xfrm>
          <a:prstGeom prst="rect">
            <a:avLst/>
          </a:prstGeom>
        </p:spPr>
      </p:pic>
      <p:pic>
        <p:nvPicPr>
          <p:cNvPr id="5" name="Image 3" descr="preencoded.png"/>
          <p:cNvPicPr>
            <a:picLocks noChangeAspect="1"/>
          </p:cNvPicPr>
          <p:nvPr/>
        </p:nvPicPr>
        <p:blipFill>
          <a:blip r:embed="rId6"/>
          <a:stretch>
            <a:fillRect/>
          </a:stretch>
        </p:blipFill>
        <p:spPr>
          <a:xfrm>
            <a:off x="10693718" y="927735"/>
            <a:ext cx="3091339" cy="3091339"/>
          </a:xfrm>
          <a:prstGeom prst="rect">
            <a:avLst/>
          </a:prstGeom>
        </p:spPr>
      </p:pic>
      <p:pic>
        <p:nvPicPr>
          <p:cNvPr id="6" name="Image 4" descr="preencoded.png"/>
          <p:cNvPicPr>
            <a:picLocks noChangeAspect="1"/>
          </p:cNvPicPr>
          <p:nvPr/>
        </p:nvPicPr>
        <p:blipFill>
          <a:blip r:embed="rId7"/>
          <a:stretch>
            <a:fillRect/>
          </a:stretch>
        </p:blipFill>
        <p:spPr>
          <a:xfrm>
            <a:off x="845344" y="4210526"/>
            <a:ext cx="3091339" cy="3091339"/>
          </a:xfrm>
          <a:prstGeom prst="rect">
            <a:avLst/>
          </a:prstGeom>
        </p:spPr>
      </p:pic>
      <p:pic>
        <p:nvPicPr>
          <p:cNvPr id="7" name="Image 5" descr="preencoded.png"/>
          <p:cNvPicPr>
            <a:picLocks noChangeAspect="1"/>
          </p:cNvPicPr>
          <p:nvPr/>
        </p:nvPicPr>
        <p:blipFill>
          <a:blip r:embed="rId8"/>
          <a:stretch>
            <a:fillRect/>
          </a:stretch>
        </p:blipFill>
        <p:spPr>
          <a:xfrm>
            <a:off x="4128135" y="4210526"/>
            <a:ext cx="3091339" cy="3091339"/>
          </a:xfrm>
          <a:prstGeom prst="rect">
            <a:avLst/>
          </a:prstGeom>
        </p:spPr>
      </p:pic>
      <p:sp>
        <p:nvSpPr>
          <p:cNvPr id="8" name="TextBox 7">
            <a:extLst>
              <a:ext uri="{FF2B5EF4-FFF2-40B4-BE49-F238E27FC236}">
                <a16:creationId xmlns:a16="http://schemas.microsoft.com/office/drawing/2014/main" id="{913C55AB-78D1-9D8D-297A-68E83F0D86C6}"/>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2632829"/>
            <a:ext cx="8813602" cy="704017"/>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Source Serif Pro Semi Bold" pitchFamily="34" charset="0"/>
                <a:ea typeface="Source Serif Pro Semi Bold" pitchFamily="34" charset="-122"/>
                <a:cs typeface="Source Serif Pro Semi Bold" pitchFamily="34" charset="-120"/>
              </a:rPr>
              <a:t>Countries with highest least views</a:t>
            </a:r>
            <a:endParaRPr lang="en-US" sz="4400" dirty="0"/>
          </a:p>
        </p:txBody>
      </p:sp>
      <p:pic>
        <p:nvPicPr>
          <p:cNvPr id="3" name="Image 0" descr="preencoded.png"/>
          <p:cNvPicPr>
            <a:picLocks noChangeAspect="1"/>
          </p:cNvPicPr>
          <p:nvPr/>
        </p:nvPicPr>
        <p:blipFill>
          <a:blip r:embed="rId3"/>
          <a:stretch>
            <a:fillRect/>
          </a:stretch>
        </p:blipFill>
        <p:spPr>
          <a:xfrm>
            <a:off x="837724" y="3965019"/>
            <a:ext cx="3928586" cy="1362432"/>
          </a:xfrm>
          <a:prstGeom prst="rect">
            <a:avLst/>
          </a:prstGeom>
        </p:spPr>
      </p:pic>
      <p:pic>
        <p:nvPicPr>
          <p:cNvPr id="4" name="Image 1" descr="preencoded.png"/>
          <p:cNvPicPr>
            <a:picLocks noChangeAspect="1"/>
          </p:cNvPicPr>
          <p:nvPr/>
        </p:nvPicPr>
        <p:blipFill>
          <a:blip r:embed="rId4"/>
          <a:stretch>
            <a:fillRect/>
          </a:stretch>
        </p:blipFill>
        <p:spPr>
          <a:xfrm>
            <a:off x="5357813" y="3965019"/>
            <a:ext cx="3928586" cy="1238369"/>
          </a:xfrm>
          <a:prstGeom prst="rect">
            <a:avLst/>
          </a:prstGeom>
        </p:spPr>
      </p:pic>
      <p:pic>
        <p:nvPicPr>
          <p:cNvPr id="5" name="Image 2" descr="preencoded.png"/>
          <p:cNvPicPr>
            <a:picLocks noChangeAspect="1"/>
          </p:cNvPicPr>
          <p:nvPr/>
        </p:nvPicPr>
        <p:blipFill>
          <a:blip r:embed="rId5"/>
          <a:stretch>
            <a:fillRect/>
          </a:stretch>
        </p:blipFill>
        <p:spPr>
          <a:xfrm>
            <a:off x="9877901" y="3965019"/>
            <a:ext cx="3928586" cy="1284923"/>
          </a:xfrm>
          <a:prstGeom prst="rect">
            <a:avLst/>
          </a:prstGeom>
        </p:spPr>
      </p:pic>
      <p:sp>
        <p:nvSpPr>
          <p:cNvPr id="6" name="TextBox 5">
            <a:extLst>
              <a:ext uri="{FF2B5EF4-FFF2-40B4-BE49-F238E27FC236}">
                <a16:creationId xmlns:a16="http://schemas.microsoft.com/office/drawing/2014/main" id="{36726FAA-F9F7-CAB5-FC36-84B83F13046E}"/>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37724" y="2115264"/>
            <a:ext cx="12954952" cy="844629"/>
          </a:xfrm>
          <a:prstGeom prst="rect">
            <a:avLst/>
          </a:prstGeom>
          <a:noFill/>
          <a:ln/>
        </p:spPr>
        <p:txBody>
          <a:bodyPr wrap="square" lIns="0" tIns="0" rIns="0" bIns="0" rtlCol="0" anchor="t"/>
          <a:lstStyle/>
          <a:p>
            <a:pPr marL="0" indent="0" algn="l">
              <a:lnSpc>
                <a:spcPts val="3300"/>
              </a:lnSpc>
              <a:buNone/>
            </a:pPr>
            <a:r>
              <a:rPr lang="en-US" sz="2650" dirty="0">
                <a:solidFill>
                  <a:srgbClr val="000000"/>
                </a:solidFill>
                <a:latin typeface="Source Serif Pro Semi Bold" pitchFamily="34" charset="0"/>
                <a:ea typeface="Source Serif Pro Semi Bold" pitchFamily="34" charset="-122"/>
                <a:cs typeface="Source Serif Pro Semi Bold" pitchFamily="34" charset="-120"/>
              </a:rPr>
              <a:t>ARE THERE SPECIFIC KEYWORDS IN THE TITLE THAT ARE MORE LIKELY TO RESULT IN A VIDEO TRENDING?</a:t>
            </a:r>
            <a:endParaRPr lang="en-US" sz="2650" dirty="0"/>
          </a:p>
        </p:txBody>
      </p:sp>
      <p:pic>
        <p:nvPicPr>
          <p:cNvPr id="3" name="Image 0" descr="preencoded.png"/>
          <p:cNvPicPr>
            <a:picLocks noChangeAspect="1"/>
          </p:cNvPicPr>
          <p:nvPr/>
        </p:nvPicPr>
        <p:blipFill>
          <a:blip r:embed="rId3"/>
          <a:stretch>
            <a:fillRect/>
          </a:stretch>
        </p:blipFill>
        <p:spPr>
          <a:xfrm>
            <a:off x="837724" y="3498294"/>
            <a:ext cx="6185535" cy="2265997"/>
          </a:xfrm>
          <a:prstGeom prst="rect">
            <a:avLst/>
          </a:prstGeom>
        </p:spPr>
      </p:pic>
      <p:pic>
        <p:nvPicPr>
          <p:cNvPr id="4" name="Image 1" descr="preencoded.png"/>
          <p:cNvPicPr>
            <a:picLocks noChangeAspect="1"/>
          </p:cNvPicPr>
          <p:nvPr/>
        </p:nvPicPr>
        <p:blipFill>
          <a:blip r:embed="rId4"/>
          <a:stretch>
            <a:fillRect/>
          </a:stretch>
        </p:blipFill>
        <p:spPr>
          <a:xfrm>
            <a:off x="7614761" y="3498294"/>
            <a:ext cx="6185535" cy="2346841"/>
          </a:xfrm>
          <a:prstGeom prst="rect">
            <a:avLst/>
          </a:prstGeom>
        </p:spPr>
      </p:pic>
      <p:sp>
        <p:nvSpPr>
          <p:cNvPr id="5" name="TextBox 4">
            <a:extLst>
              <a:ext uri="{FF2B5EF4-FFF2-40B4-BE49-F238E27FC236}">
                <a16:creationId xmlns:a16="http://schemas.microsoft.com/office/drawing/2014/main" id="{1761EAC5-B148-39EA-8941-2B6E07A695F5}"/>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37724" y="1898571"/>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HOUR OF THE DAY WHEN TRENDING VIDEOS ARE UPLOADED</a:t>
            </a:r>
            <a:endParaRPr lang="en-US" sz="4400" dirty="0"/>
          </a:p>
        </p:txBody>
      </p:sp>
      <p:pic>
        <p:nvPicPr>
          <p:cNvPr id="3" name="Image 0" descr="preencoded.png"/>
          <p:cNvPicPr>
            <a:picLocks noChangeAspect="1"/>
          </p:cNvPicPr>
          <p:nvPr/>
        </p:nvPicPr>
        <p:blipFill>
          <a:blip r:embed="rId3"/>
          <a:stretch>
            <a:fillRect/>
          </a:stretch>
        </p:blipFill>
        <p:spPr>
          <a:xfrm>
            <a:off x="837724" y="3785354"/>
            <a:ext cx="4118848" cy="2545556"/>
          </a:xfrm>
          <a:prstGeom prst="rect">
            <a:avLst/>
          </a:prstGeom>
        </p:spPr>
      </p:pic>
      <p:sp>
        <p:nvSpPr>
          <p:cNvPr id="4" name="Text 1"/>
          <p:cNvSpPr/>
          <p:nvPr/>
        </p:nvSpPr>
        <p:spPr>
          <a:xfrm>
            <a:off x="837724" y="6330910"/>
            <a:ext cx="4118848"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5" name="Image 1" descr="preencoded.png"/>
          <p:cNvPicPr>
            <a:picLocks noChangeAspect="1"/>
          </p:cNvPicPr>
          <p:nvPr/>
        </p:nvPicPr>
        <p:blipFill>
          <a:blip r:embed="rId4"/>
          <a:stretch>
            <a:fillRect/>
          </a:stretch>
        </p:blipFill>
        <p:spPr>
          <a:xfrm>
            <a:off x="5255776" y="3785354"/>
            <a:ext cx="4118848" cy="2545556"/>
          </a:xfrm>
          <a:prstGeom prst="rect">
            <a:avLst/>
          </a:prstGeom>
        </p:spPr>
      </p:pic>
      <p:sp>
        <p:nvSpPr>
          <p:cNvPr id="6" name="Text 2"/>
          <p:cNvSpPr/>
          <p:nvPr/>
        </p:nvSpPr>
        <p:spPr>
          <a:xfrm>
            <a:off x="5255776" y="6330910"/>
            <a:ext cx="4118848"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7" name="Image 2" descr="preencoded.png"/>
          <p:cNvPicPr>
            <a:picLocks noChangeAspect="1"/>
          </p:cNvPicPr>
          <p:nvPr/>
        </p:nvPicPr>
        <p:blipFill>
          <a:blip r:embed="rId5"/>
          <a:stretch>
            <a:fillRect/>
          </a:stretch>
        </p:blipFill>
        <p:spPr>
          <a:xfrm>
            <a:off x="9673828" y="3785354"/>
            <a:ext cx="4118848" cy="2545556"/>
          </a:xfrm>
          <a:prstGeom prst="rect">
            <a:avLst/>
          </a:prstGeom>
        </p:spPr>
      </p:pic>
      <p:sp>
        <p:nvSpPr>
          <p:cNvPr id="8" name="Text 3"/>
          <p:cNvSpPr/>
          <p:nvPr/>
        </p:nvSpPr>
        <p:spPr>
          <a:xfrm>
            <a:off x="9673828" y="6330910"/>
            <a:ext cx="4118848"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9" name="TextBox 8">
            <a:extLst>
              <a:ext uri="{FF2B5EF4-FFF2-40B4-BE49-F238E27FC236}">
                <a16:creationId xmlns:a16="http://schemas.microsoft.com/office/drawing/2014/main" id="{87CD60EB-61AE-6E58-3679-867E685E84EE}"/>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45344" y="927735"/>
            <a:ext cx="3091339" cy="3091339"/>
          </a:xfrm>
          <a:prstGeom prst="rect">
            <a:avLst/>
          </a:prstGeom>
        </p:spPr>
      </p:pic>
      <p:pic>
        <p:nvPicPr>
          <p:cNvPr id="3" name="Image 1" descr="preencoded.png"/>
          <p:cNvPicPr>
            <a:picLocks noChangeAspect="1"/>
          </p:cNvPicPr>
          <p:nvPr/>
        </p:nvPicPr>
        <p:blipFill>
          <a:blip r:embed="rId4"/>
          <a:stretch>
            <a:fillRect/>
          </a:stretch>
        </p:blipFill>
        <p:spPr>
          <a:xfrm>
            <a:off x="4128135" y="927735"/>
            <a:ext cx="3091339" cy="3091339"/>
          </a:xfrm>
          <a:prstGeom prst="rect">
            <a:avLst/>
          </a:prstGeom>
        </p:spPr>
      </p:pic>
      <p:pic>
        <p:nvPicPr>
          <p:cNvPr id="4" name="Image 2" descr="preencoded.png"/>
          <p:cNvPicPr>
            <a:picLocks noChangeAspect="1"/>
          </p:cNvPicPr>
          <p:nvPr/>
        </p:nvPicPr>
        <p:blipFill>
          <a:blip r:embed="rId5"/>
          <a:stretch>
            <a:fillRect/>
          </a:stretch>
        </p:blipFill>
        <p:spPr>
          <a:xfrm>
            <a:off x="7410926" y="927735"/>
            <a:ext cx="3091339" cy="3091339"/>
          </a:xfrm>
          <a:prstGeom prst="rect">
            <a:avLst/>
          </a:prstGeom>
        </p:spPr>
      </p:pic>
      <p:pic>
        <p:nvPicPr>
          <p:cNvPr id="5" name="Image 3" descr="preencoded.png"/>
          <p:cNvPicPr>
            <a:picLocks noChangeAspect="1"/>
          </p:cNvPicPr>
          <p:nvPr/>
        </p:nvPicPr>
        <p:blipFill>
          <a:blip r:embed="rId6"/>
          <a:stretch>
            <a:fillRect/>
          </a:stretch>
        </p:blipFill>
        <p:spPr>
          <a:xfrm>
            <a:off x="10693718" y="927735"/>
            <a:ext cx="3091339" cy="3091339"/>
          </a:xfrm>
          <a:prstGeom prst="rect">
            <a:avLst/>
          </a:prstGeom>
        </p:spPr>
      </p:pic>
      <p:pic>
        <p:nvPicPr>
          <p:cNvPr id="6" name="Image 4" descr="preencoded.png"/>
          <p:cNvPicPr>
            <a:picLocks noChangeAspect="1"/>
          </p:cNvPicPr>
          <p:nvPr/>
        </p:nvPicPr>
        <p:blipFill>
          <a:blip r:embed="rId7"/>
          <a:stretch>
            <a:fillRect/>
          </a:stretch>
        </p:blipFill>
        <p:spPr>
          <a:xfrm>
            <a:off x="845344" y="4210526"/>
            <a:ext cx="3091339" cy="3091339"/>
          </a:xfrm>
          <a:prstGeom prst="rect">
            <a:avLst/>
          </a:prstGeom>
        </p:spPr>
      </p:pic>
      <p:pic>
        <p:nvPicPr>
          <p:cNvPr id="7" name="Image 5" descr="preencoded.png"/>
          <p:cNvPicPr>
            <a:picLocks noChangeAspect="1"/>
          </p:cNvPicPr>
          <p:nvPr/>
        </p:nvPicPr>
        <p:blipFill>
          <a:blip r:embed="rId8"/>
          <a:stretch>
            <a:fillRect/>
          </a:stretch>
        </p:blipFill>
        <p:spPr>
          <a:xfrm>
            <a:off x="4128135" y="4210526"/>
            <a:ext cx="3091339" cy="3091339"/>
          </a:xfrm>
          <a:prstGeom prst="rect">
            <a:avLst/>
          </a:prstGeom>
        </p:spPr>
      </p:pic>
      <p:sp>
        <p:nvSpPr>
          <p:cNvPr id="8" name="TextBox 7">
            <a:extLst>
              <a:ext uri="{FF2B5EF4-FFF2-40B4-BE49-F238E27FC236}">
                <a16:creationId xmlns:a16="http://schemas.microsoft.com/office/drawing/2014/main" id="{AA1CE4D3-5A68-08D6-4CEC-53DC52D1E8D1}"/>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37724" y="1181814"/>
            <a:ext cx="12180808"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TIME BETWEEN PUBLISHING AND TRENDING?</a:t>
            </a:r>
            <a:endParaRPr lang="en-US" sz="4400" dirty="0"/>
          </a:p>
        </p:txBody>
      </p:sp>
      <p:pic>
        <p:nvPicPr>
          <p:cNvPr id="3" name="Image 0" descr="preencoded.png"/>
          <p:cNvPicPr>
            <a:picLocks noChangeAspect="1"/>
          </p:cNvPicPr>
          <p:nvPr/>
        </p:nvPicPr>
        <p:blipFill>
          <a:blip r:embed="rId3"/>
          <a:stretch>
            <a:fillRect/>
          </a:stretch>
        </p:blipFill>
        <p:spPr>
          <a:xfrm>
            <a:off x="837724" y="2364581"/>
            <a:ext cx="11475244" cy="4683085"/>
          </a:xfrm>
          <a:prstGeom prst="rect">
            <a:avLst/>
          </a:prstGeom>
        </p:spPr>
      </p:pic>
      <p:sp>
        <p:nvSpPr>
          <p:cNvPr id="4" name="TextBox 3">
            <a:extLst>
              <a:ext uri="{FF2B5EF4-FFF2-40B4-BE49-F238E27FC236}">
                <a16:creationId xmlns:a16="http://schemas.microsoft.com/office/drawing/2014/main" id="{3EE4041B-6035-87B0-B573-88247F819339}"/>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37724" y="676870"/>
            <a:ext cx="12954952" cy="1013698"/>
          </a:xfrm>
          <a:prstGeom prst="rect">
            <a:avLst/>
          </a:prstGeom>
          <a:noFill/>
          <a:ln/>
        </p:spPr>
        <p:txBody>
          <a:bodyPr wrap="square" lIns="0" tIns="0" rIns="0" bIns="0" rtlCol="0" anchor="t"/>
          <a:lstStyle/>
          <a:p>
            <a:pPr marL="0" indent="0" algn="l">
              <a:lnSpc>
                <a:spcPts val="3950"/>
              </a:lnSpc>
              <a:buNone/>
            </a:pPr>
            <a:r>
              <a:rPr lang="en-US" sz="3150" b="1" dirty="0">
                <a:solidFill>
                  <a:srgbClr val="000000"/>
                </a:solidFill>
                <a:latin typeface="Source Serif Pro Semi Bold" pitchFamily="34" charset="0"/>
                <a:ea typeface="Source Serif Pro Semi Bold" pitchFamily="34" charset="-122"/>
                <a:cs typeface="Source Serif Pro Semi Bold" pitchFamily="34" charset="-120"/>
              </a:rPr>
              <a:t>VIDEOS THAT WAITED THE LONGEST BEFORE THEY BECAME TRENDING</a:t>
            </a:r>
            <a:endParaRPr lang="en-US" sz="3150" dirty="0"/>
          </a:p>
        </p:txBody>
      </p:sp>
      <p:pic>
        <p:nvPicPr>
          <p:cNvPr id="3" name="Image 0" descr="preencoded.png"/>
          <p:cNvPicPr>
            <a:picLocks noChangeAspect="1"/>
          </p:cNvPicPr>
          <p:nvPr/>
        </p:nvPicPr>
        <p:blipFill>
          <a:blip r:embed="rId3"/>
          <a:stretch>
            <a:fillRect/>
          </a:stretch>
        </p:blipFill>
        <p:spPr>
          <a:xfrm>
            <a:off x="837724" y="2175153"/>
            <a:ext cx="10026792" cy="5135166"/>
          </a:xfrm>
          <a:prstGeom prst="rect">
            <a:avLst/>
          </a:prstGeom>
        </p:spPr>
      </p:pic>
      <p:sp>
        <p:nvSpPr>
          <p:cNvPr id="4" name="Text 1"/>
          <p:cNvSpPr/>
          <p:nvPr/>
        </p:nvSpPr>
        <p:spPr>
          <a:xfrm>
            <a:off x="10281642" y="2126694"/>
            <a:ext cx="3518535" cy="344567"/>
          </a:xfrm>
          <a:prstGeom prst="rect">
            <a:avLst/>
          </a:prstGeom>
          <a:noFill/>
          <a:ln/>
        </p:spPr>
        <p:txBody>
          <a:bodyPr wrap="none" lIns="0" tIns="0" rIns="0" bIns="0" rtlCol="0" anchor="t"/>
          <a:lstStyle/>
          <a:p>
            <a:pPr marL="0" indent="0" algn="l">
              <a:lnSpc>
                <a:spcPts val="2700"/>
              </a:lnSpc>
              <a:buNone/>
            </a:pPr>
            <a:endParaRPr lang="en-US" sz="1650" dirty="0"/>
          </a:p>
        </p:txBody>
      </p:sp>
      <p:sp>
        <p:nvSpPr>
          <p:cNvPr id="5" name="TextBox 4">
            <a:extLst>
              <a:ext uri="{FF2B5EF4-FFF2-40B4-BE49-F238E27FC236}">
                <a16:creationId xmlns:a16="http://schemas.microsoft.com/office/drawing/2014/main" id="{2E96DDFD-10D4-D5D4-BF54-86FE4C18F0A5}"/>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37724" y="1086922"/>
            <a:ext cx="7952542" cy="704017"/>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Source Serif Pro Semi Bold" pitchFamily="34" charset="0"/>
                <a:ea typeface="Source Serif Pro Semi Bold" pitchFamily="34" charset="-122"/>
                <a:cs typeface="Source Serif Pro Semi Bold" pitchFamily="34" charset="-120"/>
              </a:rPr>
              <a:t>Model Training and Evaluation</a:t>
            </a:r>
            <a:endParaRPr lang="en-US" sz="4400" dirty="0"/>
          </a:p>
        </p:txBody>
      </p:sp>
      <p:sp>
        <p:nvSpPr>
          <p:cNvPr id="3" name="Text 1"/>
          <p:cNvSpPr/>
          <p:nvPr/>
        </p:nvSpPr>
        <p:spPr>
          <a:xfrm>
            <a:off x="837724" y="2149912"/>
            <a:ext cx="4505920" cy="563285"/>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Source Serif Pro Semi Bold" pitchFamily="34" charset="0"/>
                <a:ea typeface="Source Serif Pro Semi Bold" pitchFamily="34" charset="-122"/>
                <a:cs typeface="Source Serif Pro Semi Bold" pitchFamily="34" charset="-120"/>
              </a:rPr>
              <a:t>k-means clustering</a:t>
            </a:r>
            <a:endParaRPr lang="en-US" sz="3500" dirty="0"/>
          </a:p>
        </p:txBody>
      </p:sp>
      <p:pic>
        <p:nvPicPr>
          <p:cNvPr id="4" name="Image 0" descr="preencoded.png"/>
          <p:cNvPicPr>
            <a:picLocks noChangeAspect="1"/>
          </p:cNvPicPr>
          <p:nvPr/>
        </p:nvPicPr>
        <p:blipFill>
          <a:blip r:embed="rId3"/>
          <a:stretch>
            <a:fillRect/>
          </a:stretch>
        </p:blipFill>
        <p:spPr>
          <a:xfrm>
            <a:off x="837724" y="3341370"/>
            <a:ext cx="6185535" cy="3531989"/>
          </a:xfrm>
          <a:prstGeom prst="rect">
            <a:avLst/>
          </a:prstGeom>
        </p:spPr>
      </p:pic>
      <p:pic>
        <p:nvPicPr>
          <p:cNvPr id="5" name="Image 1" descr="preencoded.png"/>
          <p:cNvPicPr>
            <a:picLocks noChangeAspect="1"/>
          </p:cNvPicPr>
          <p:nvPr/>
        </p:nvPicPr>
        <p:blipFill>
          <a:blip r:embed="rId4"/>
          <a:stretch>
            <a:fillRect/>
          </a:stretch>
        </p:blipFill>
        <p:spPr>
          <a:xfrm>
            <a:off x="7614761" y="3341370"/>
            <a:ext cx="6185535" cy="3524250"/>
          </a:xfrm>
          <a:prstGeom prst="rect">
            <a:avLst/>
          </a:prstGeom>
        </p:spPr>
      </p:pic>
      <p:sp>
        <p:nvSpPr>
          <p:cNvPr id="6" name="TextBox 5">
            <a:extLst>
              <a:ext uri="{FF2B5EF4-FFF2-40B4-BE49-F238E27FC236}">
                <a16:creationId xmlns:a16="http://schemas.microsoft.com/office/drawing/2014/main" id="{D4FEDAC2-B233-7B89-9E5C-A18EF2636349}"/>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9267" y="1125498"/>
            <a:ext cx="4836319" cy="604480"/>
          </a:xfrm>
          <a:prstGeom prst="rect">
            <a:avLst/>
          </a:prstGeom>
          <a:noFill/>
          <a:ln/>
        </p:spPr>
        <p:txBody>
          <a:bodyPr wrap="none" lIns="0" tIns="0" rIns="0" bIns="0" rtlCol="0" anchor="t"/>
          <a:lstStyle/>
          <a:p>
            <a:pPr marL="0" indent="0" algn="l">
              <a:lnSpc>
                <a:spcPts val="4750"/>
              </a:lnSpc>
              <a:buNone/>
            </a:pPr>
            <a:r>
              <a:rPr lang="en-US" sz="3800" dirty="0">
                <a:solidFill>
                  <a:srgbClr val="000000"/>
                </a:solidFill>
                <a:latin typeface="Source Serif Pro Semi Bold" pitchFamily="34" charset="0"/>
                <a:ea typeface="Source Serif Pro Semi Bold" pitchFamily="34" charset="-122"/>
                <a:cs typeface="Source Serif Pro Semi Bold" pitchFamily="34" charset="-120"/>
              </a:rPr>
              <a:t>Cluster Analysis</a:t>
            </a:r>
            <a:endParaRPr lang="en-US" sz="3800" dirty="0"/>
          </a:p>
        </p:txBody>
      </p:sp>
      <p:sp>
        <p:nvSpPr>
          <p:cNvPr id="3" name="Shape 1"/>
          <p:cNvSpPr/>
          <p:nvPr/>
        </p:nvSpPr>
        <p:spPr>
          <a:xfrm>
            <a:off x="799267" y="2140982"/>
            <a:ext cx="4206954" cy="5258438"/>
          </a:xfrm>
          <a:prstGeom prst="roundRect">
            <a:avLst>
              <a:gd name="adj" fmla="val 2052"/>
            </a:avLst>
          </a:prstGeom>
          <a:solidFill>
            <a:srgbClr val="F0D4F7"/>
          </a:solidFill>
          <a:ln w="7620">
            <a:solidFill>
              <a:srgbClr val="D6BADD"/>
            </a:solidFill>
            <a:prstDash val="solid"/>
          </a:ln>
        </p:spPr>
        <p:txBody>
          <a:bodyPr/>
          <a:lstStyle/>
          <a:p>
            <a:endParaRPr lang="en-US"/>
          </a:p>
        </p:txBody>
      </p:sp>
      <p:sp>
        <p:nvSpPr>
          <p:cNvPr id="4" name="Text 2"/>
          <p:cNvSpPr/>
          <p:nvPr/>
        </p:nvSpPr>
        <p:spPr>
          <a:xfrm>
            <a:off x="1012388" y="2354104"/>
            <a:ext cx="2418159" cy="302181"/>
          </a:xfrm>
          <a:prstGeom prst="rect">
            <a:avLst/>
          </a:prstGeom>
          <a:noFill/>
          <a:ln/>
        </p:spPr>
        <p:txBody>
          <a:bodyPr wrap="none" lIns="0" tIns="0" rIns="0" bIns="0" rtlCol="0" anchor="t"/>
          <a:lstStyle/>
          <a:p>
            <a:pPr marL="0" indent="0" algn="l">
              <a:lnSpc>
                <a:spcPts val="2350"/>
              </a:lnSpc>
              <a:buNone/>
            </a:pPr>
            <a:r>
              <a:rPr lang="en-US" sz="1900" dirty="0">
                <a:solidFill>
                  <a:srgbClr val="272525"/>
                </a:solidFill>
                <a:latin typeface="Source Serif Pro Semi Bold" pitchFamily="34" charset="0"/>
                <a:ea typeface="Source Serif Pro Semi Bold" pitchFamily="34" charset="-122"/>
                <a:cs typeface="Source Serif Pro Semi Bold" pitchFamily="34" charset="-120"/>
              </a:rPr>
              <a:t>Cluster 1 (Size: 2946):</a:t>
            </a:r>
            <a:endParaRPr lang="en-US" sz="1900" dirty="0"/>
          </a:p>
        </p:txBody>
      </p:sp>
      <p:sp>
        <p:nvSpPr>
          <p:cNvPr id="5" name="Text 3"/>
          <p:cNvSpPr/>
          <p:nvPr/>
        </p:nvSpPr>
        <p:spPr>
          <a:xfrm>
            <a:off x="1012388" y="2779514"/>
            <a:ext cx="3780711" cy="1337786"/>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272525"/>
                </a:solidFill>
                <a:latin typeface="Source Sans Pro" pitchFamily="34" charset="0"/>
                <a:ea typeface="Source Sans Pro" pitchFamily="34" charset="-122"/>
                <a:cs typeface="Source Sans Pro" pitchFamily="34" charset="-120"/>
              </a:rPr>
              <a:t>The mean values for </a:t>
            </a:r>
            <a:r>
              <a:rPr lang="en-US" sz="1600" dirty="0">
                <a:solidFill>
                  <a:srgbClr val="272525"/>
                </a:solidFill>
                <a:highlight>
                  <a:srgbClr val="F0D4F7"/>
                </a:highlight>
                <a:latin typeface="Consolas" pitchFamily="34" charset="0"/>
                <a:ea typeface="Consolas" pitchFamily="34" charset="-122"/>
                <a:cs typeface="Consolas" pitchFamily="34" charset="-120"/>
              </a:rPr>
              <a:t>data_total.likes</a:t>
            </a:r>
            <a:r>
              <a:rPr lang="en-US" sz="1600" dirty="0">
                <a:solidFill>
                  <a:srgbClr val="272525"/>
                </a:solidFill>
                <a:latin typeface="Source Sans Pro" pitchFamily="34" charset="0"/>
                <a:ea typeface="Source Sans Pro" pitchFamily="34" charset="-122"/>
                <a:cs typeface="Source Sans Pro" pitchFamily="34" charset="-120"/>
              </a:rPr>
              <a:t>, </a:t>
            </a:r>
            <a:r>
              <a:rPr lang="en-US" sz="1600" dirty="0">
                <a:solidFill>
                  <a:srgbClr val="272525"/>
                </a:solidFill>
                <a:highlight>
                  <a:srgbClr val="F0D4F7"/>
                </a:highlight>
                <a:latin typeface="Consolas" pitchFamily="34" charset="0"/>
                <a:ea typeface="Consolas" pitchFamily="34" charset="-122"/>
                <a:cs typeface="Consolas" pitchFamily="34" charset="-120"/>
              </a:rPr>
              <a:t>data_total.dislikes</a:t>
            </a:r>
            <a:r>
              <a:rPr lang="en-US" sz="1600" dirty="0">
                <a:solidFill>
                  <a:srgbClr val="272525"/>
                </a:solidFill>
                <a:latin typeface="Source Sans Pro" pitchFamily="34" charset="0"/>
                <a:ea typeface="Source Sans Pro" pitchFamily="34" charset="-122"/>
                <a:cs typeface="Source Sans Pro" pitchFamily="34" charset="-120"/>
              </a:rPr>
              <a:t>, </a:t>
            </a:r>
            <a:r>
              <a:rPr lang="en-US" sz="1600" dirty="0">
                <a:solidFill>
                  <a:srgbClr val="272525"/>
                </a:solidFill>
                <a:highlight>
                  <a:srgbClr val="F0D4F7"/>
                </a:highlight>
                <a:latin typeface="Consolas" pitchFamily="34" charset="0"/>
                <a:ea typeface="Consolas" pitchFamily="34" charset="-122"/>
                <a:cs typeface="Consolas" pitchFamily="34" charset="-120"/>
              </a:rPr>
              <a:t>data_total.views</a:t>
            </a:r>
            <a:r>
              <a:rPr lang="en-US" sz="1600" dirty="0">
                <a:solidFill>
                  <a:srgbClr val="272525"/>
                </a:solidFill>
                <a:latin typeface="Source Sans Pro" pitchFamily="34" charset="0"/>
                <a:ea typeface="Source Sans Pro" pitchFamily="34" charset="-122"/>
                <a:cs typeface="Source Sans Pro" pitchFamily="34" charset="-120"/>
              </a:rPr>
              <a:t>, and </a:t>
            </a:r>
            <a:r>
              <a:rPr lang="en-US" sz="1600" dirty="0">
                <a:solidFill>
                  <a:srgbClr val="272525"/>
                </a:solidFill>
                <a:highlight>
                  <a:srgbClr val="F0D4F7"/>
                </a:highlight>
                <a:latin typeface="Consolas" pitchFamily="34" charset="0"/>
                <a:ea typeface="Consolas" pitchFamily="34" charset="-122"/>
                <a:cs typeface="Consolas" pitchFamily="34" charset="-120"/>
              </a:rPr>
              <a:t>data_total.comment_count</a:t>
            </a:r>
            <a:r>
              <a:rPr lang="en-US" sz="1600" dirty="0">
                <a:solidFill>
                  <a:srgbClr val="272525"/>
                </a:solidFill>
                <a:latin typeface="Source Sans Pro" pitchFamily="34" charset="0"/>
                <a:ea typeface="Source Sans Pro" pitchFamily="34" charset="-122"/>
                <a:cs typeface="Source Sans Pro" pitchFamily="34" charset="-120"/>
              </a:rPr>
              <a:t> are notably high.</a:t>
            </a:r>
            <a:endParaRPr lang="en-US" sz="1600" dirty="0"/>
          </a:p>
        </p:txBody>
      </p:sp>
      <p:sp>
        <p:nvSpPr>
          <p:cNvPr id="6" name="Text 4"/>
          <p:cNvSpPr/>
          <p:nvPr/>
        </p:nvSpPr>
        <p:spPr>
          <a:xfrm>
            <a:off x="1012388" y="4700230"/>
            <a:ext cx="3780711" cy="1643658"/>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272525"/>
                </a:solidFill>
                <a:latin typeface="Source Sans Pro" pitchFamily="34" charset="0"/>
                <a:ea typeface="Source Sans Pro" pitchFamily="34" charset="-122"/>
                <a:cs typeface="Source Sans Pro" pitchFamily="34" charset="-120"/>
              </a:rPr>
              <a:t>This indicates that Cluster 1 likely corresponds to highly popular and engaging videos, characterized by substantial numbers of likes, views, dislikes, and comments.</a:t>
            </a:r>
            <a:endParaRPr lang="en-US" sz="1600" dirty="0"/>
          </a:p>
        </p:txBody>
      </p:sp>
      <p:sp>
        <p:nvSpPr>
          <p:cNvPr id="7" name="Shape 5"/>
          <p:cNvSpPr/>
          <p:nvPr/>
        </p:nvSpPr>
        <p:spPr>
          <a:xfrm>
            <a:off x="5211723" y="2140981"/>
            <a:ext cx="4206954" cy="5258439"/>
          </a:xfrm>
          <a:prstGeom prst="roundRect">
            <a:avLst>
              <a:gd name="adj" fmla="val 2052"/>
            </a:avLst>
          </a:prstGeom>
          <a:solidFill>
            <a:srgbClr val="F0D4F7"/>
          </a:solidFill>
          <a:ln w="7620">
            <a:solidFill>
              <a:srgbClr val="D6BADD"/>
            </a:solidFill>
            <a:prstDash val="solid"/>
          </a:ln>
        </p:spPr>
        <p:txBody>
          <a:bodyPr/>
          <a:lstStyle/>
          <a:p>
            <a:endParaRPr lang="en-US"/>
          </a:p>
        </p:txBody>
      </p:sp>
      <p:sp>
        <p:nvSpPr>
          <p:cNvPr id="8" name="Text 6"/>
          <p:cNvSpPr/>
          <p:nvPr/>
        </p:nvSpPr>
        <p:spPr>
          <a:xfrm>
            <a:off x="5424845" y="2354104"/>
            <a:ext cx="2584966" cy="302181"/>
          </a:xfrm>
          <a:prstGeom prst="rect">
            <a:avLst/>
          </a:prstGeom>
          <a:noFill/>
          <a:ln/>
        </p:spPr>
        <p:txBody>
          <a:bodyPr wrap="none" lIns="0" tIns="0" rIns="0" bIns="0" rtlCol="0" anchor="t"/>
          <a:lstStyle/>
          <a:p>
            <a:pPr marL="0" indent="0" algn="l">
              <a:lnSpc>
                <a:spcPts val="2350"/>
              </a:lnSpc>
              <a:buNone/>
            </a:pPr>
            <a:r>
              <a:rPr lang="en-US" sz="1900" dirty="0">
                <a:solidFill>
                  <a:srgbClr val="272525"/>
                </a:solidFill>
                <a:latin typeface="Source Serif Pro Semi Bold" pitchFamily="34" charset="0"/>
                <a:ea typeface="Source Serif Pro Semi Bold" pitchFamily="34" charset="-122"/>
                <a:cs typeface="Source Serif Pro Semi Bold" pitchFamily="34" charset="-120"/>
              </a:rPr>
              <a:t>Cluster 2 (Size: 372768):</a:t>
            </a:r>
            <a:endParaRPr lang="en-US" sz="1900" dirty="0"/>
          </a:p>
        </p:txBody>
      </p:sp>
      <p:sp>
        <p:nvSpPr>
          <p:cNvPr id="9" name="Text 7"/>
          <p:cNvSpPr/>
          <p:nvPr/>
        </p:nvSpPr>
        <p:spPr>
          <a:xfrm>
            <a:off x="5424845" y="2779514"/>
            <a:ext cx="3780711" cy="657463"/>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272525"/>
                </a:solidFill>
                <a:latin typeface="Source Sans Pro" pitchFamily="34" charset="0"/>
                <a:ea typeface="Source Sans Pro" pitchFamily="34" charset="-122"/>
                <a:cs typeface="Source Sans Pro" pitchFamily="34" charset="-120"/>
              </a:rPr>
              <a:t>This cluster is the largest among the three identified clusters.</a:t>
            </a:r>
            <a:endParaRPr lang="en-US" sz="1600" dirty="0"/>
          </a:p>
        </p:txBody>
      </p:sp>
      <p:sp>
        <p:nvSpPr>
          <p:cNvPr id="10" name="Text 8"/>
          <p:cNvSpPr/>
          <p:nvPr/>
        </p:nvSpPr>
        <p:spPr>
          <a:xfrm>
            <a:off x="5424845" y="3508891"/>
            <a:ext cx="3780711" cy="1666518"/>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272525"/>
                </a:solidFill>
                <a:latin typeface="Source Sans Pro" pitchFamily="34" charset="0"/>
                <a:ea typeface="Source Sans Pro" pitchFamily="34" charset="-122"/>
                <a:cs typeface="Source Sans Pro" pitchFamily="34" charset="-120"/>
              </a:rPr>
              <a:t>The mean values for </a:t>
            </a:r>
            <a:r>
              <a:rPr lang="en-US" sz="1600" dirty="0">
                <a:solidFill>
                  <a:srgbClr val="272525"/>
                </a:solidFill>
                <a:highlight>
                  <a:srgbClr val="F0D4F7"/>
                </a:highlight>
                <a:latin typeface="Consolas" pitchFamily="34" charset="0"/>
                <a:ea typeface="Consolas" pitchFamily="34" charset="-122"/>
                <a:cs typeface="Consolas" pitchFamily="34" charset="-120"/>
              </a:rPr>
              <a:t>data_total.likes</a:t>
            </a:r>
            <a:r>
              <a:rPr lang="en-US" sz="1600" dirty="0">
                <a:solidFill>
                  <a:srgbClr val="272525"/>
                </a:solidFill>
                <a:latin typeface="Source Sans Pro" pitchFamily="34" charset="0"/>
                <a:ea typeface="Source Sans Pro" pitchFamily="34" charset="-122"/>
                <a:cs typeface="Source Sans Pro" pitchFamily="34" charset="-120"/>
              </a:rPr>
              <a:t>, </a:t>
            </a:r>
            <a:r>
              <a:rPr lang="en-US" sz="1600" dirty="0">
                <a:solidFill>
                  <a:srgbClr val="272525"/>
                </a:solidFill>
                <a:highlight>
                  <a:srgbClr val="F0D4F7"/>
                </a:highlight>
                <a:latin typeface="Consolas" pitchFamily="34" charset="0"/>
                <a:ea typeface="Consolas" pitchFamily="34" charset="-122"/>
                <a:cs typeface="Consolas" pitchFamily="34" charset="-120"/>
              </a:rPr>
              <a:t>data_total.dislikes</a:t>
            </a:r>
            <a:r>
              <a:rPr lang="en-US" sz="1600" dirty="0">
                <a:solidFill>
                  <a:srgbClr val="272525"/>
                </a:solidFill>
                <a:latin typeface="Source Sans Pro" pitchFamily="34" charset="0"/>
                <a:ea typeface="Source Sans Pro" pitchFamily="34" charset="-122"/>
                <a:cs typeface="Source Sans Pro" pitchFamily="34" charset="-120"/>
              </a:rPr>
              <a:t>, </a:t>
            </a:r>
            <a:r>
              <a:rPr lang="en-US" sz="1600" dirty="0">
                <a:solidFill>
                  <a:srgbClr val="272525"/>
                </a:solidFill>
                <a:highlight>
                  <a:srgbClr val="F0D4F7"/>
                </a:highlight>
                <a:latin typeface="Consolas" pitchFamily="34" charset="0"/>
                <a:ea typeface="Consolas" pitchFamily="34" charset="-122"/>
                <a:cs typeface="Consolas" pitchFamily="34" charset="-120"/>
              </a:rPr>
              <a:t>data_total.views</a:t>
            </a:r>
            <a:r>
              <a:rPr lang="en-US" sz="1600" dirty="0">
                <a:solidFill>
                  <a:srgbClr val="272525"/>
                </a:solidFill>
                <a:latin typeface="Source Sans Pro" pitchFamily="34" charset="0"/>
                <a:ea typeface="Source Sans Pro" pitchFamily="34" charset="-122"/>
                <a:cs typeface="Source Sans Pro" pitchFamily="34" charset="-120"/>
              </a:rPr>
              <a:t>, and </a:t>
            </a:r>
            <a:r>
              <a:rPr lang="en-US" sz="1600" dirty="0">
                <a:solidFill>
                  <a:srgbClr val="272525"/>
                </a:solidFill>
                <a:highlight>
                  <a:srgbClr val="F0D4F7"/>
                </a:highlight>
                <a:latin typeface="Consolas" pitchFamily="34" charset="0"/>
                <a:ea typeface="Consolas" pitchFamily="34" charset="-122"/>
                <a:cs typeface="Consolas" pitchFamily="34" charset="-120"/>
              </a:rPr>
              <a:t>data_total.comment_count</a:t>
            </a:r>
            <a:r>
              <a:rPr lang="en-US" sz="1600" dirty="0">
                <a:solidFill>
                  <a:srgbClr val="272525"/>
                </a:solidFill>
                <a:latin typeface="Source Sans Pro" pitchFamily="34" charset="0"/>
                <a:ea typeface="Source Sans Pro" pitchFamily="34" charset="-122"/>
                <a:cs typeface="Source Sans Pro" pitchFamily="34" charset="-120"/>
              </a:rPr>
              <a:t> are significantly lower than those of Cluster 1 but higher than those of Cluster 3.</a:t>
            </a:r>
            <a:endParaRPr lang="en-US" sz="1600" dirty="0"/>
          </a:p>
        </p:txBody>
      </p:sp>
      <p:sp>
        <p:nvSpPr>
          <p:cNvPr id="11" name="Text 9"/>
          <p:cNvSpPr/>
          <p:nvPr/>
        </p:nvSpPr>
        <p:spPr>
          <a:xfrm>
            <a:off x="5424844" y="5752149"/>
            <a:ext cx="3780711" cy="1980008"/>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272525"/>
                </a:solidFill>
                <a:latin typeface="Source Sans Pro" pitchFamily="34" charset="0"/>
                <a:ea typeface="Source Sans Pro" pitchFamily="34" charset="-122"/>
                <a:cs typeface="Source Sans Pro" pitchFamily="34" charset="-120"/>
              </a:rPr>
              <a:t>This suggests that the cluster likely represents moderately popular and engaging videos, characterized by a moderate number of likes, views, dislikes, and comments.</a:t>
            </a:r>
            <a:endParaRPr lang="en-US" sz="1600" dirty="0"/>
          </a:p>
        </p:txBody>
      </p:sp>
      <p:sp>
        <p:nvSpPr>
          <p:cNvPr id="12" name="Shape 10"/>
          <p:cNvSpPr/>
          <p:nvPr/>
        </p:nvSpPr>
        <p:spPr>
          <a:xfrm>
            <a:off x="9624179" y="2140982"/>
            <a:ext cx="4206954" cy="5258438"/>
          </a:xfrm>
          <a:prstGeom prst="roundRect">
            <a:avLst>
              <a:gd name="adj" fmla="val 2052"/>
            </a:avLst>
          </a:prstGeom>
          <a:solidFill>
            <a:srgbClr val="F0D4F7"/>
          </a:solidFill>
          <a:ln w="7620">
            <a:solidFill>
              <a:srgbClr val="D6BADD"/>
            </a:solidFill>
            <a:prstDash val="solid"/>
          </a:ln>
        </p:spPr>
        <p:txBody>
          <a:bodyPr/>
          <a:lstStyle/>
          <a:p>
            <a:endParaRPr lang="en-US"/>
          </a:p>
        </p:txBody>
      </p:sp>
      <p:sp>
        <p:nvSpPr>
          <p:cNvPr id="13" name="Text 11"/>
          <p:cNvSpPr/>
          <p:nvPr/>
        </p:nvSpPr>
        <p:spPr>
          <a:xfrm>
            <a:off x="9837301" y="2354104"/>
            <a:ext cx="2418159" cy="302181"/>
          </a:xfrm>
          <a:prstGeom prst="rect">
            <a:avLst/>
          </a:prstGeom>
          <a:noFill/>
          <a:ln/>
        </p:spPr>
        <p:txBody>
          <a:bodyPr wrap="none" lIns="0" tIns="0" rIns="0" bIns="0" rtlCol="0" anchor="t"/>
          <a:lstStyle/>
          <a:p>
            <a:pPr marL="0" indent="0" algn="l">
              <a:lnSpc>
                <a:spcPts val="2350"/>
              </a:lnSpc>
              <a:buNone/>
            </a:pPr>
            <a:r>
              <a:rPr lang="en-US" sz="1900" dirty="0">
                <a:solidFill>
                  <a:srgbClr val="272525"/>
                </a:solidFill>
                <a:latin typeface="Source Serif Pro Semi Bold" pitchFamily="34" charset="0"/>
                <a:ea typeface="Source Serif Pro Semi Bold" pitchFamily="34" charset="-122"/>
                <a:cs typeface="Source Serif Pro Semi Bold" pitchFamily="34" charset="-120"/>
              </a:rPr>
              <a:t>Cluster 3 (Size: 228):</a:t>
            </a:r>
            <a:endParaRPr lang="en-US" sz="1900" dirty="0"/>
          </a:p>
        </p:txBody>
      </p:sp>
      <p:sp>
        <p:nvSpPr>
          <p:cNvPr id="14" name="Text 12"/>
          <p:cNvSpPr/>
          <p:nvPr/>
        </p:nvSpPr>
        <p:spPr>
          <a:xfrm>
            <a:off x="9837301" y="2779514"/>
            <a:ext cx="3780711" cy="657463"/>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272525"/>
                </a:solidFill>
                <a:latin typeface="Source Sans Pro" pitchFamily="34" charset="0"/>
                <a:ea typeface="Source Sans Pro" pitchFamily="34" charset="-122"/>
                <a:cs typeface="Source Sans Pro" pitchFamily="34" charset="-120"/>
              </a:rPr>
              <a:t>This cluster is the smallest among the three identified clusters.</a:t>
            </a:r>
            <a:endParaRPr lang="en-US" sz="1600" dirty="0"/>
          </a:p>
        </p:txBody>
      </p:sp>
      <p:sp>
        <p:nvSpPr>
          <p:cNvPr id="15" name="Text 13"/>
          <p:cNvSpPr/>
          <p:nvPr/>
        </p:nvSpPr>
        <p:spPr>
          <a:xfrm>
            <a:off x="9837301" y="3508891"/>
            <a:ext cx="3780711" cy="1666518"/>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272525"/>
                </a:solidFill>
                <a:latin typeface="Source Sans Pro" pitchFamily="34" charset="0"/>
                <a:ea typeface="Source Sans Pro" pitchFamily="34" charset="-122"/>
                <a:cs typeface="Source Sans Pro" pitchFamily="34" charset="-120"/>
              </a:rPr>
              <a:t>It exhibits the lowest mean values for </a:t>
            </a:r>
            <a:r>
              <a:rPr lang="en-US" sz="1600" dirty="0">
                <a:solidFill>
                  <a:srgbClr val="272525"/>
                </a:solidFill>
                <a:highlight>
                  <a:srgbClr val="F0D4F7"/>
                </a:highlight>
                <a:latin typeface="Consolas" pitchFamily="34" charset="0"/>
                <a:ea typeface="Consolas" pitchFamily="34" charset="-122"/>
                <a:cs typeface="Consolas" pitchFamily="34" charset="-120"/>
              </a:rPr>
              <a:t>data_total.likes</a:t>
            </a:r>
            <a:r>
              <a:rPr lang="en-US" sz="1600" dirty="0">
                <a:solidFill>
                  <a:srgbClr val="272525"/>
                </a:solidFill>
                <a:latin typeface="Source Sans Pro" pitchFamily="34" charset="0"/>
                <a:ea typeface="Source Sans Pro" pitchFamily="34" charset="-122"/>
                <a:cs typeface="Source Sans Pro" pitchFamily="34" charset="-120"/>
              </a:rPr>
              <a:t>, </a:t>
            </a:r>
            <a:r>
              <a:rPr lang="en-US" sz="1600" dirty="0">
                <a:solidFill>
                  <a:srgbClr val="272525"/>
                </a:solidFill>
                <a:highlight>
                  <a:srgbClr val="F0D4F7"/>
                </a:highlight>
                <a:latin typeface="Consolas" pitchFamily="34" charset="0"/>
                <a:ea typeface="Consolas" pitchFamily="34" charset="-122"/>
                <a:cs typeface="Consolas" pitchFamily="34" charset="-120"/>
              </a:rPr>
              <a:t>data_total.dislikes</a:t>
            </a:r>
            <a:r>
              <a:rPr lang="en-US" sz="1600" dirty="0">
                <a:solidFill>
                  <a:srgbClr val="272525"/>
                </a:solidFill>
                <a:latin typeface="Source Sans Pro" pitchFamily="34" charset="0"/>
                <a:ea typeface="Source Sans Pro" pitchFamily="34" charset="-122"/>
                <a:cs typeface="Source Sans Pro" pitchFamily="34" charset="-120"/>
              </a:rPr>
              <a:t>, </a:t>
            </a:r>
            <a:r>
              <a:rPr lang="en-US" sz="1600" dirty="0">
                <a:solidFill>
                  <a:srgbClr val="272525"/>
                </a:solidFill>
                <a:highlight>
                  <a:srgbClr val="F0D4F7"/>
                </a:highlight>
                <a:latin typeface="Consolas" pitchFamily="34" charset="0"/>
                <a:ea typeface="Consolas" pitchFamily="34" charset="-122"/>
                <a:cs typeface="Consolas" pitchFamily="34" charset="-120"/>
              </a:rPr>
              <a:t>data_total.views</a:t>
            </a:r>
            <a:r>
              <a:rPr lang="en-US" sz="1600" dirty="0">
                <a:solidFill>
                  <a:srgbClr val="272525"/>
                </a:solidFill>
                <a:latin typeface="Source Sans Pro" pitchFamily="34" charset="0"/>
                <a:ea typeface="Source Sans Pro" pitchFamily="34" charset="-122"/>
                <a:cs typeface="Source Sans Pro" pitchFamily="34" charset="-120"/>
              </a:rPr>
              <a:t>, and </a:t>
            </a:r>
            <a:r>
              <a:rPr lang="en-US" sz="1600" dirty="0">
                <a:solidFill>
                  <a:srgbClr val="272525"/>
                </a:solidFill>
                <a:highlight>
                  <a:srgbClr val="F0D4F7"/>
                </a:highlight>
                <a:latin typeface="Consolas" pitchFamily="34" charset="0"/>
                <a:ea typeface="Consolas" pitchFamily="34" charset="-122"/>
                <a:cs typeface="Consolas" pitchFamily="34" charset="-120"/>
              </a:rPr>
              <a:t>data_total.comment_count</a:t>
            </a:r>
            <a:r>
              <a:rPr lang="en-US" sz="1600" dirty="0">
                <a:solidFill>
                  <a:srgbClr val="272525"/>
                </a:solidFill>
                <a:latin typeface="Source Sans Pro" pitchFamily="34" charset="0"/>
                <a:ea typeface="Source Sans Pro" pitchFamily="34" charset="-122"/>
                <a:cs typeface="Source Sans Pro" pitchFamily="34" charset="-120"/>
              </a:rPr>
              <a:t> compared to the other clusters.</a:t>
            </a:r>
            <a:endParaRPr lang="en-US" sz="1600" dirty="0"/>
          </a:p>
        </p:txBody>
      </p:sp>
      <p:sp>
        <p:nvSpPr>
          <p:cNvPr id="16" name="Text 14"/>
          <p:cNvSpPr/>
          <p:nvPr/>
        </p:nvSpPr>
        <p:spPr>
          <a:xfrm>
            <a:off x="9837300" y="5522059"/>
            <a:ext cx="3780711" cy="1643658"/>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272525"/>
                </a:solidFill>
                <a:latin typeface="Source Sans Pro" pitchFamily="34" charset="0"/>
                <a:ea typeface="Source Sans Pro" pitchFamily="34" charset="-122"/>
                <a:cs typeface="Source Sans Pro" pitchFamily="34" charset="-120"/>
              </a:rPr>
              <a:t>This suggests that the cluster likely represents videos or content that are less popular and less engaging, characterized by comparatively fewer likes, views, dislikes, and comments.</a:t>
            </a:r>
            <a:endParaRPr lang="en-US" sz="1600" dirty="0"/>
          </a:p>
        </p:txBody>
      </p:sp>
      <p:sp>
        <p:nvSpPr>
          <p:cNvPr id="17" name="TextBox 16">
            <a:extLst>
              <a:ext uri="{FF2B5EF4-FFF2-40B4-BE49-F238E27FC236}">
                <a16:creationId xmlns:a16="http://schemas.microsoft.com/office/drawing/2014/main" id="{233CC8EE-DCB0-A520-BC47-2C20CE466D9B}"/>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37724" y="2090380"/>
            <a:ext cx="6390323" cy="704017"/>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Source Serif Pro Semi Bold" pitchFamily="34" charset="0"/>
                <a:ea typeface="Source Serif Pro Semi Bold" pitchFamily="34" charset="-122"/>
                <a:cs typeface="Source Serif Pro Semi Bold" pitchFamily="34" charset="-120"/>
              </a:rPr>
              <a:t>Analysis on scraped data</a:t>
            </a:r>
            <a:endParaRPr lang="en-US" sz="4400" dirty="0"/>
          </a:p>
        </p:txBody>
      </p:sp>
      <p:pic>
        <p:nvPicPr>
          <p:cNvPr id="3" name="Image 0" descr="preencoded.png"/>
          <p:cNvPicPr>
            <a:picLocks noChangeAspect="1"/>
          </p:cNvPicPr>
          <p:nvPr/>
        </p:nvPicPr>
        <p:blipFill>
          <a:blip r:embed="rId3"/>
          <a:stretch>
            <a:fillRect/>
          </a:stretch>
        </p:blipFill>
        <p:spPr>
          <a:xfrm>
            <a:off x="837724" y="3273147"/>
            <a:ext cx="3014305" cy="1862971"/>
          </a:xfrm>
          <a:prstGeom prst="rect">
            <a:avLst/>
          </a:prstGeom>
        </p:spPr>
      </p:pic>
      <p:sp>
        <p:nvSpPr>
          <p:cNvPr id="4" name="Text 1"/>
          <p:cNvSpPr/>
          <p:nvPr/>
        </p:nvSpPr>
        <p:spPr>
          <a:xfrm>
            <a:off x="837724" y="5435322"/>
            <a:ext cx="3014305"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Top 3 Categories in Canada</a:t>
            </a:r>
            <a:endParaRPr lang="en-US" sz="2200" dirty="0"/>
          </a:p>
        </p:txBody>
      </p:sp>
      <p:pic>
        <p:nvPicPr>
          <p:cNvPr id="5" name="Image 1" descr="preencoded.png"/>
          <p:cNvPicPr>
            <a:picLocks noChangeAspect="1"/>
          </p:cNvPicPr>
          <p:nvPr/>
        </p:nvPicPr>
        <p:blipFill>
          <a:blip r:embed="rId4"/>
          <a:stretch>
            <a:fillRect/>
          </a:stretch>
        </p:blipFill>
        <p:spPr>
          <a:xfrm>
            <a:off x="4151233" y="3273147"/>
            <a:ext cx="3014305" cy="1862971"/>
          </a:xfrm>
          <a:prstGeom prst="rect">
            <a:avLst/>
          </a:prstGeom>
        </p:spPr>
      </p:pic>
      <p:sp>
        <p:nvSpPr>
          <p:cNvPr id="6" name="Text 2"/>
          <p:cNvSpPr/>
          <p:nvPr/>
        </p:nvSpPr>
        <p:spPr>
          <a:xfrm>
            <a:off x="4151233" y="5435322"/>
            <a:ext cx="3014305"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Top 3 Categories in France</a:t>
            </a:r>
            <a:endParaRPr lang="en-US" sz="2200" dirty="0"/>
          </a:p>
        </p:txBody>
      </p:sp>
      <p:pic>
        <p:nvPicPr>
          <p:cNvPr id="7" name="Image 2" descr="preencoded.png"/>
          <p:cNvPicPr>
            <a:picLocks noChangeAspect="1"/>
          </p:cNvPicPr>
          <p:nvPr/>
        </p:nvPicPr>
        <p:blipFill>
          <a:blip r:embed="rId5"/>
          <a:stretch>
            <a:fillRect/>
          </a:stretch>
        </p:blipFill>
        <p:spPr>
          <a:xfrm>
            <a:off x="7464743" y="3273147"/>
            <a:ext cx="3014305" cy="1862971"/>
          </a:xfrm>
          <a:prstGeom prst="rect">
            <a:avLst/>
          </a:prstGeom>
        </p:spPr>
      </p:pic>
      <p:sp>
        <p:nvSpPr>
          <p:cNvPr id="8" name="Text 3"/>
          <p:cNvSpPr/>
          <p:nvPr/>
        </p:nvSpPr>
        <p:spPr>
          <a:xfrm>
            <a:off x="7464743" y="5435322"/>
            <a:ext cx="3014305"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Top 3 Categories in Germany</a:t>
            </a:r>
            <a:endParaRPr lang="en-US" sz="2200" dirty="0"/>
          </a:p>
        </p:txBody>
      </p:sp>
      <p:pic>
        <p:nvPicPr>
          <p:cNvPr id="9" name="Image 3" descr="preencoded.png"/>
          <p:cNvPicPr>
            <a:picLocks noChangeAspect="1"/>
          </p:cNvPicPr>
          <p:nvPr/>
        </p:nvPicPr>
        <p:blipFill>
          <a:blip r:embed="rId6"/>
          <a:stretch>
            <a:fillRect/>
          </a:stretch>
        </p:blipFill>
        <p:spPr>
          <a:xfrm>
            <a:off x="10778252" y="3273147"/>
            <a:ext cx="3014424" cy="1862971"/>
          </a:xfrm>
          <a:prstGeom prst="rect">
            <a:avLst/>
          </a:prstGeom>
        </p:spPr>
      </p:pic>
      <p:sp>
        <p:nvSpPr>
          <p:cNvPr id="10" name="Text 4"/>
          <p:cNvSpPr/>
          <p:nvPr/>
        </p:nvSpPr>
        <p:spPr>
          <a:xfrm>
            <a:off x="10778252" y="5435322"/>
            <a:ext cx="3014424"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Top 3 Categories in Mexico</a:t>
            </a:r>
            <a:endParaRPr lang="en-US" sz="2200" dirty="0"/>
          </a:p>
        </p:txBody>
      </p:sp>
      <p:sp>
        <p:nvSpPr>
          <p:cNvPr id="11" name="TextBox 10">
            <a:extLst>
              <a:ext uri="{FF2B5EF4-FFF2-40B4-BE49-F238E27FC236}">
                <a16:creationId xmlns:a16="http://schemas.microsoft.com/office/drawing/2014/main" id="{43F5C77D-2C78-404C-E3BD-0A884E7DCEB4}"/>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37724" y="3033713"/>
            <a:ext cx="3014305" cy="1862971"/>
          </a:xfrm>
          <a:prstGeom prst="rect">
            <a:avLst/>
          </a:prstGeom>
        </p:spPr>
      </p:pic>
      <p:sp>
        <p:nvSpPr>
          <p:cNvPr id="3" name="Text 0"/>
          <p:cNvSpPr/>
          <p:nvPr/>
        </p:nvSpPr>
        <p:spPr>
          <a:xfrm>
            <a:off x="837724" y="5195888"/>
            <a:ext cx="3014305"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4" name="Image 1" descr="preencoded.png"/>
          <p:cNvPicPr>
            <a:picLocks noChangeAspect="1"/>
          </p:cNvPicPr>
          <p:nvPr/>
        </p:nvPicPr>
        <p:blipFill>
          <a:blip r:embed="rId4"/>
          <a:stretch>
            <a:fillRect/>
          </a:stretch>
        </p:blipFill>
        <p:spPr>
          <a:xfrm>
            <a:off x="4151233" y="3033713"/>
            <a:ext cx="3014305" cy="1862971"/>
          </a:xfrm>
          <a:prstGeom prst="rect">
            <a:avLst/>
          </a:prstGeom>
        </p:spPr>
      </p:pic>
      <p:sp>
        <p:nvSpPr>
          <p:cNvPr id="5" name="Text 1"/>
          <p:cNvSpPr/>
          <p:nvPr/>
        </p:nvSpPr>
        <p:spPr>
          <a:xfrm>
            <a:off x="4151233" y="5195888"/>
            <a:ext cx="3014305"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6" name="Image 2" descr="preencoded.png"/>
          <p:cNvPicPr>
            <a:picLocks noChangeAspect="1"/>
          </p:cNvPicPr>
          <p:nvPr/>
        </p:nvPicPr>
        <p:blipFill>
          <a:blip r:embed="rId5"/>
          <a:stretch>
            <a:fillRect/>
          </a:stretch>
        </p:blipFill>
        <p:spPr>
          <a:xfrm>
            <a:off x="7464743" y="3033713"/>
            <a:ext cx="3014305" cy="1862971"/>
          </a:xfrm>
          <a:prstGeom prst="rect">
            <a:avLst/>
          </a:prstGeom>
        </p:spPr>
      </p:pic>
      <p:sp>
        <p:nvSpPr>
          <p:cNvPr id="7" name="Text 2"/>
          <p:cNvSpPr/>
          <p:nvPr/>
        </p:nvSpPr>
        <p:spPr>
          <a:xfrm>
            <a:off x="7464743" y="5195888"/>
            <a:ext cx="3014305" cy="383024"/>
          </a:xfrm>
          <a:prstGeom prst="rect">
            <a:avLst/>
          </a:prstGeom>
          <a:noFill/>
          <a:ln/>
        </p:spPr>
        <p:txBody>
          <a:bodyPr wrap="none" lIns="0" tIns="0" rIns="0" bIns="0" rtlCol="0" anchor="t"/>
          <a:lstStyle/>
          <a:p>
            <a:pPr marL="0" indent="0" algn="l">
              <a:lnSpc>
                <a:spcPts val="3000"/>
              </a:lnSpc>
              <a:buNone/>
            </a:pPr>
            <a:endParaRPr lang="en-US" sz="1850" dirty="0"/>
          </a:p>
        </p:txBody>
      </p:sp>
      <p:pic>
        <p:nvPicPr>
          <p:cNvPr id="8" name="Image 3" descr="preencoded.png"/>
          <p:cNvPicPr>
            <a:picLocks noChangeAspect="1"/>
          </p:cNvPicPr>
          <p:nvPr/>
        </p:nvPicPr>
        <p:blipFill>
          <a:blip r:embed="rId6"/>
          <a:stretch>
            <a:fillRect/>
          </a:stretch>
        </p:blipFill>
        <p:spPr>
          <a:xfrm>
            <a:off x="10778252" y="3033713"/>
            <a:ext cx="3014424" cy="1862971"/>
          </a:xfrm>
          <a:prstGeom prst="rect">
            <a:avLst/>
          </a:prstGeom>
        </p:spPr>
      </p:pic>
      <p:sp>
        <p:nvSpPr>
          <p:cNvPr id="9" name="Text 3"/>
          <p:cNvSpPr/>
          <p:nvPr/>
        </p:nvSpPr>
        <p:spPr>
          <a:xfrm>
            <a:off x="10778252" y="5195888"/>
            <a:ext cx="3014424"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10" name="TextBox 9">
            <a:extLst>
              <a:ext uri="{FF2B5EF4-FFF2-40B4-BE49-F238E27FC236}">
                <a16:creationId xmlns:a16="http://schemas.microsoft.com/office/drawing/2014/main" id="{208D3A6F-3401-EDA0-816E-17593B43D887}"/>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37724" y="930593"/>
            <a:ext cx="9184719" cy="704017"/>
          </a:xfrm>
          <a:prstGeom prst="rect">
            <a:avLst/>
          </a:prstGeom>
          <a:noFill/>
          <a:ln/>
        </p:spPr>
        <p:txBody>
          <a:bodyPr wrap="none" lIns="0" tIns="0" rIns="0" bIns="0" rtlCol="0" anchor="t"/>
          <a:lstStyle/>
          <a:p>
            <a:pPr marL="0" indent="0" algn="l">
              <a:lnSpc>
                <a:spcPts val="5500"/>
              </a:lnSpc>
              <a:buNone/>
            </a:pPr>
            <a:r>
              <a:rPr lang="en-US" sz="4400" b="1" dirty="0">
                <a:solidFill>
                  <a:srgbClr val="000000"/>
                </a:solidFill>
                <a:latin typeface="Source Serif Pro Semi Bold" pitchFamily="34" charset="0"/>
                <a:ea typeface="Source Serif Pro Semi Bold" pitchFamily="34" charset="-122"/>
                <a:cs typeface="Source Serif Pro Semi Bold" pitchFamily="34" charset="-120"/>
              </a:rPr>
              <a:t>k-means clustering on scraped data</a:t>
            </a:r>
            <a:endParaRPr lang="en-US" sz="4400" dirty="0"/>
          </a:p>
        </p:txBody>
      </p:sp>
      <p:pic>
        <p:nvPicPr>
          <p:cNvPr id="3" name="Image 0" descr="preencoded.png"/>
          <p:cNvPicPr>
            <a:picLocks noChangeAspect="1"/>
          </p:cNvPicPr>
          <p:nvPr/>
        </p:nvPicPr>
        <p:blipFill>
          <a:blip r:embed="rId3"/>
          <a:stretch>
            <a:fillRect/>
          </a:stretch>
        </p:blipFill>
        <p:spPr>
          <a:xfrm>
            <a:off x="837724" y="2262783"/>
            <a:ext cx="6185535" cy="3957876"/>
          </a:xfrm>
          <a:prstGeom prst="rect">
            <a:avLst/>
          </a:prstGeom>
        </p:spPr>
      </p:pic>
      <p:pic>
        <p:nvPicPr>
          <p:cNvPr id="4" name="Image 1" descr="preencoded.png"/>
          <p:cNvPicPr>
            <a:picLocks noChangeAspect="1"/>
          </p:cNvPicPr>
          <p:nvPr/>
        </p:nvPicPr>
        <p:blipFill>
          <a:blip r:embed="rId4"/>
          <a:stretch>
            <a:fillRect/>
          </a:stretch>
        </p:blipFill>
        <p:spPr>
          <a:xfrm>
            <a:off x="7614761" y="2262783"/>
            <a:ext cx="6185535" cy="4766905"/>
          </a:xfrm>
          <a:prstGeom prst="rect">
            <a:avLst/>
          </a:prstGeom>
        </p:spPr>
      </p:pic>
      <p:sp>
        <p:nvSpPr>
          <p:cNvPr id="5" name="TextBox 4">
            <a:extLst>
              <a:ext uri="{FF2B5EF4-FFF2-40B4-BE49-F238E27FC236}">
                <a16:creationId xmlns:a16="http://schemas.microsoft.com/office/drawing/2014/main" id="{A42D1CE6-36A6-9B7D-9ED1-C92C4C3A1013}"/>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37724" y="1569244"/>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Conclusions</a:t>
            </a:r>
            <a:endParaRPr lang="en-US" sz="4400" dirty="0"/>
          </a:p>
        </p:txBody>
      </p:sp>
      <p:sp>
        <p:nvSpPr>
          <p:cNvPr id="3" name="Shape 1"/>
          <p:cNvSpPr/>
          <p:nvPr/>
        </p:nvSpPr>
        <p:spPr>
          <a:xfrm>
            <a:off x="837724" y="2752011"/>
            <a:ext cx="6357818" cy="2025968"/>
          </a:xfrm>
          <a:prstGeom prst="roundRect">
            <a:avLst>
              <a:gd name="adj" fmla="val 4963"/>
            </a:avLst>
          </a:prstGeom>
          <a:solidFill>
            <a:srgbClr val="F0D4F7"/>
          </a:solidFill>
          <a:ln w="7620">
            <a:solidFill>
              <a:srgbClr val="D6BADD"/>
            </a:solidFill>
            <a:prstDash val="solid"/>
          </a:ln>
        </p:spPr>
        <p:txBody>
          <a:bodyPr/>
          <a:lstStyle/>
          <a:p>
            <a:endParaRPr lang="en-US"/>
          </a:p>
        </p:txBody>
      </p:sp>
      <p:sp>
        <p:nvSpPr>
          <p:cNvPr id="4" name="Text 2"/>
          <p:cNvSpPr/>
          <p:nvPr/>
        </p:nvSpPr>
        <p:spPr>
          <a:xfrm>
            <a:off x="1084659" y="2998946"/>
            <a:ext cx="586394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Gained insights into the optimal choice of video category, the ideal title length, and the potential influence of description sentiment on viewership.</a:t>
            </a:r>
            <a:endParaRPr lang="en-US" sz="1850" dirty="0"/>
          </a:p>
        </p:txBody>
      </p:sp>
      <p:sp>
        <p:nvSpPr>
          <p:cNvPr id="5" name="Shape 3"/>
          <p:cNvSpPr/>
          <p:nvPr/>
        </p:nvSpPr>
        <p:spPr>
          <a:xfrm>
            <a:off x="7434858" y="2752011"/>
            <a:ext cx="6357818" cy="2025968"/>
          </a:xfrm>
          <a:prstGeom prst="roundRect">
            <a:avLst>
              <a:gd name="adj" fmla="val 4963"/>
            </a:avLst>
          </a:prstGeom>
          <a:solidFill>
            <a:srgbClr val="F0D4F7"/>
          </a:solidFill>
          <a:ln w="7620">
            <a:solidFill>
              <a:srgbClr val="D6BADD"/>
            </a:solidFill>
            <a:prstDash val="solid"/>
          </a:ln>
        </p:spPr>
        <p:txBody>
          <a:bodyPr/>
          <a:lstStyle/>
          <a:p>
            <a:endParaRPr lang="en-US"/>
          </a:p>
        </p:txBody>
      </p:sp>
      <p:sp>
        <p:nvSpPr>
          <p:cNvPr id="6" name="Text 4"/>
          <p:cNvSpPr/>
          <p:nvPr/>
        </p:nvSpPr>
        <p:spPr>
          <a:xfrm>
            <a:off x="7681793" y="2998946"/>
            <a:ext cx="5863947" cy="1532096"/>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Compared the findings with current trends to obtain a comprehensive view of the data. Overall, the trends observed in the current data closely align with those identified in past data.</a:t>
            </a:r>
            <a:endParaRPr lang="en-US" sz="1850" dirty="0"/>
          </a:p>
        </p:txBody>
      </p:sp>
      <p:sp>
        <p:nvSpPr>
          <p:cNvPr id="7" name="Shape 5"/>
          <p:cNvSpPr/>
          <p:nvPr/>
        </p:nvSpPr>
        <p:spPr>
          <a:xfrm>
            <a:off x="837724" y="5017294"/>
            <a:ext cx="6357818" cy="1642943"/>
          </a:xfrm>
          <a:prstGeom prst="roundRect">
            <a:avLst>
              <a:gd name="adj" fmla="val 6120"/>
            </a:avLst>
          </a:prstGeom>
          <a:solidFill>
            <a:srgbClr val="F0D4F7"/>
          </a:solidFill>
          <a:ln w="7620">
            <a:solidFill>
              <a:srgbClr val="D6BADD"/>
            </a:solidFill>
            <a:prstDash val="solid"/>
          </a:ln>
        </p:spPr>
        <p:txBody>
          <a:bodyPr/>
          <a:lstStyle/>
          <a:p>
            <a:endParaRPr lang="en-US"/>
          </a:p>
        </p:txBody>
      </p:sp>
      <p:sp>
        <p:nvSpPr>
          <p:cNvPr id="8" name="Text 6"/>
          <p:cNvSpPr/>
          <p:nvPr/>
        </p:nvSpPr>
        <p:spPr>
          <a:xfrm>
            <a:off x="1084659" y="5264229"/>
            <a:ext cx="586394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An attempt was made to perform cluster analysis to uncover more nuanced insights; however, the results were not as successful as anticipated.</a:t>
            </a:r>
            <a:endParaRPr lang="en-US" sz="1850" dirty="0"/>
          </a:p>
        </p:txBody>
      </p:sp>
      <p:sp>
        <p:nvSpPr>
          <p:cNvPr id="9" name="Shape 7"/>
          <p:cNvSpPr/>
          <p:nvPr/>
        </p:nvSpPr>
        <p:spPr>
          <a:xfrm>
            <a:off x="7434858" y="5017294"/>
            <a:ext cx="6357818" cy="1642943"/>
          </a:xfrm>
          <a:prstGeom prst="roundRect">
            <a:avLst>
              <a:gd name="adj" fmla="val 6120"/>
            </a:avLst>
          </a:prstGeom>
          <a:solidFill>
            <a:srgbClr val="F0D4F7"/>
          </a:solidFill>
          <a:ln w="7620">
            <a:solidFill>
              <a:srgbClr val="D6BADD"/>
            </a:solidFill>
            <a:prstDash val="solid"/>
          </a:ln>
        </p:spPr>
        <p:txBody>
          <a:bodyPr/>
          <a:lstStyle/>
          <a:p>
            <a:endParaRPr lang="en-US"/>
          </a:p>
        </p:txBody>
      </p:sp>
      <p:sp>
        <p:nvSpPr>
          <p:cNvPr id="10" name="Text 8"/>
          <p:cNvSpPr/>
          <p:nvPr/>
        </p:nvSpPr>
        <p:spPr>
          <a:xfrm>
            <a:off x="7681793" y="5264229"/>
            <a:ext cx="586394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Future work involves a deeper exploration of the identified clusters and the development of methods to predict video trends.</a:t>
            </a:r>
            <a:endParaRPr lang="en-US" sz="1850" dirty="0"/>
          </a:p>
        </p:txBody>
      </p:sp>
      <p:sp>
        <p:nvSpPr>
          <p:cNvPr id="11" name="TextBox 10">
            <a:extLst>
              <a:ext uri="{FF2B5EF4-FFF2-40B4-BE49-F238E27FC236}">
                <a16:creationId xmlns:a16="http://schemas.microsoft.com/office/drawing/2014/main" id="{2361486B-93A9-2508-498F-15C4897B9B7A}"/>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498896" y="3762732"/>
            <a:ext cx="5632490" cy="704017"/>
          </a:xfrm>
          <a:prstGeom prst="rect">
            <a:avLst/>
          </a:prstGeom>
          <a:noFill/>
          <a:ln/>
        </p:spPr>
        <p:txBody>
          <a:bodyPr wrap="none" lIns="0" tIns="0" rIns="0" bIns="0" rtlCol="0" anchor="t"/>
          <a:lstStyle/>
          <a:p>
            <a:pPr marL="0" indent="0" algn="ctr">
              <a:lnSpc>
                <a:spcPts val="5500"/>
              </a:lnSpc>
              <a:buNone/>
            </a:pPr>
            <a:r>
              <a:rPr lang="en-US" sz="6000" dirty="0">
                <a:solidFill>
                  <a:srgbClr val="910D0D"/>
                </a:solidFill>
                <a:latin typeface="Source Serif Pro Semi Bold" pitchFamily="34" charset="0"/>
                <a:ea typeface="Source Serif Pro Semi Bold" pitchFamily="34" charset="-122"/>
                <a:cs typeface="Source Serif Pro Semi Bold" pitchFamily="34" charset="-120"/>
              </a:rPr>
              <a:t>Thank You!</a:t>
            </a:r>
            <a:endParaRPr lang="en-US" sz="6000" dirty="0"/>
          </a:p>
        </p:txBody>
      </p:sp>
      <p:sp>
        <p:nvSpPr>
          <p:cNvPr id="3" name="TextBox 2">
            <a:extLst>
              <a:ext uri="{FF2B5EF4-FFF2-40B4-BE49-F238E27FC236}">
                <a16:creationId xmlns:a16="http://schemas.microsoft.com/office/drawing/2014/main" id="{D3191B63-19DE-B32D-287B-B096D9E9835A}"/>
              </a:ext>
            </a:extLst>
          </p:cNvPr>
          <p:cNvSpPr txBox="1"/>
          <p:nvPr/>
        </p:nvSpPr>
        <p:spPr>
          <a:xfrm>
            <a:off x="12801600" y="7694341"/>
            <a:ext cx="1739590" cy="457200"/>
          </a:xfrm>
          <a:prstGeom prst="rect">
            <a:avLst/>
          </a:prstGeom>
          <a:solidFill>
            <a:schemeClr val="bg1"/>
          </a:solidFill>
        </p:spPr>
        <p:txBody>
          <a:bodyPr wrap="square" rtlCol="0">
            <a:spAutoFit/>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850</Words>
  <Application>Microsoft Office PowerPoint</Application>
  <PresentationFormat>Custom</PresentationFormat>
  <Paragraphs>93</Paragraphs>
  <Slides>23</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Consolas</vt:lpstr>
      <vt:lpstr>Source Sans Pro</vt:lpstr>
      <vt:lpstr>Source Serif Pro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Sannihitha Gudimalla</cp:lastModifiedBy>
  <cp:revision>26</cp:revision>
  <dcterms:created xsi:type="dcterms:W3CDTF">2025-04-29T22:28:51Z</dcterms:created>
  <dcterms:modified xsi:type="dcterms:W3CDTF">2025-05-01T02:04:12Z</dcterms:modified>
</cp:coreProperties>
</file>